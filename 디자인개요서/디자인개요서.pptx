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6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ppleSDGothicNeoH00" panose="02000503000000000000" pitchFamily="2" charset="-127"/>
      <p:regular r:id="rId13"/>
    </p:embeddedFont>
    <p:embeddedFont>
      <p:font typeface="프리젠테이션 3 Light" pitchFamily="2" charset="-127"/>
      <p:regular r:id="rId14"/>
    </p:embeddedFont>
    <p:embeddedFont>
      <p:font typeface="프리젠테이션 4 Regular" pitchFamily="2" charset="-127"/>
      <p:regular r:id="rId15"/>
    </p:embeddedFont>
    <p:embeddedFont>
      <p:font typeface="프리젠테이션 6 SemiBold" pitchFamily="2" charset="-127"/>
      <p:bold r:id="rId16"/>
    </p:embeddedFont>
    <p:embeddedFont>
      <p:font typeface="프리젠테이션 7 Bold" pitchFamily="2" charset="-127"/>
      <p:bold r:id="rId17"/>
    </p:embeddedFont>
    <p:embeddedFont>
      <p:font typeface="프리젠테이션 8 ExtraBold" pitchFamily="2" charset="-127"/>
      <p:bold r:id="rId18"/>
    </p:embeddedFont>
    <p:embeddedFont>
      <p:font typeface="프리젠테이션 9 Black" pitchFamily="2" charset="-127"/>
      <p:bold r:id="rId19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A3936"/>
    <a:srgbClr val="E3DDCF"/>
    <a:srgbClr val="D4CBB6"/>
    <a:srgbClr val="63573B"/>
    <a:srgbClr val="675A3D"/>
    <a:srgbClr val="A59267"/>
    <a:srgbClr val="DAD2C0"/>
    <a:srgbClr val="C7BA9D"/>
    <a:srgbClr val="E5DFD2"/>
    <a:srgbClr val="4544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599" autoAdjust="0"/>
  </p:normalViewPr>
  <p:slideViewPr>
    <p:cSldViewPr snapToGrid="0" snapToObjects="1">
      <p:cViewPr varScale="1">
        <p:scale>
          <a:sx n="126" d="100"/>
          <a:sy n="126" d="100"/>
        </p:scale>
        <p:origin x="2886" y="126"/>
      </p:cViewPr>
      <p:guideLst/>
    </p:cSldViewPr>
  </p:slideViewPr>
  <p:notesTextViewPr>
    <p:cViewPr>
      <p:scale>
        <a:sx n="1" d="1"/>
        <a:sy n="1" d="1"/>
      </p:scale>
      <p:origin x="0" y="-66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63384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안녕하세요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지금부터 게임 엔진 기반 국내 </a:t>
            </a:r>
            <a:r>
              <a:rPr lang="en-US" altLang="ko-KR" dirty="0"/>
              <a:t>3</a:t>
            </a:r>
            <a:r>
              <a:rPr lang="ko-KR" altLang="en-US" dirty="0"/>
              <a:t>차원 지도를 주제로 한 디자인 개요서를 발표하게 된 </a:t>
            </a:r>
            <a:r>
              <a:rPr lang="ko-KR" altLang="en-US" dirty="0" err="1"/>
              <a:t>황용하입니다</a:t>
            </a:r>
            <a:endParaRPr lang="ko-KR" altLang="en-US" dirty="0"/>
          </a:p>
          <a:p>
            <a:r>
              <a:rPr lang="ko-KR" altLang="en-US" dirty="0"/>
              <a:t>발표 시작하겠습니다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발표 목차입니다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이해당사자 관련 내용과 프로젝트에 관련 내용 두 부분으로 나누어 </a:t>
            </a:r>
            <a:r>
              <a:rPr lang="ko-KR" altLang="en-US" dirty="0" err="1"/>
              <a:t>설명드리겠습니다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저희 프로젝트에서 설정한 대상 이해당사자는 일반 사용자와 데이터 관리 및 제공자 두 가지로 설정했습니다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일반 사용자는 도시의 공간과 위치 정보를 탐색하기 위해 지도 서비스를 이용하는 주요 사용자로 보다 직관적이고 편리한 지도 탐색 환경을 필요로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다음으로 데이터 관리 및 제공자는 </a:t>
            </a:r>
            <a:r>
              <a:rPr lang="en-US" altLang="ko-KR" dirty="0"/>
              <a:t>3D </a:t>
            </a:r>
            <a:r>
              <a:rPr lang="ko-KR" altLang="en-US" dirty="0"/>
              <a:t>지도 서비스를 제공하는 주체로</a:t>
            </a:r>
            <a:r>
              <a:rPr lang="en-US" altLang="ko-KR" dirty="0"/>
              <a:t>, </a:t>
            </a:r>
            <a:r>
              <a:rPr lang="ko-KR" altLang="en-US" dirty="0"/>
              <a:t>지도 시스템의 유지보수와 데이터 업데이트를 관리하는 역할을 합니다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이해당사자들의 고충과 니즈에 대한 내용입니다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일반 사용자의 경우</a:t>
            </a:r>
            <a:r>
              <a:rPr lang="en-US" altLang="ko-KR" dirty="0"/>
              <a:t>, </a:t>
            </a:r>
            <a:r>
              <a:rPr lang="ko-KR" altLang="en-US" dirty="0"/>
              <a:t>기존 </a:t>
            </a:r>
            <a:r>
              <a:rPr lang="en-US" altLang="ko-KR" dirty="0"/>
              <a:t>2D </a:t>
            </a:r>
            <a:r>
              <a:rPr lang="ko-KR" altLang="en-US" dirty="0"/>
              <a:t>지도에서는 공간의 입체적인 구조를 파악하기 어렵고 건물의 규모나 주변 환경을 직관적으로 이해하기 어렵다는 문제가 있습니다</a:t>
            </a:r>
            <a:r>
              <a:rPr lang="en-US" altLang="ko-KR" dirty="0"/>
              <a:t>. </a:t>
            </a:r>
            <a:r>
              <a:rPr lang="ko-KR" altLang="en-US" dirty="0"/>
              <a:t>따라서 현실 공간과 유사하게 표현되는 보다 직관적인 지도 서비스에 대한 니즈가 존재합니다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다음으로 데이터 관리 및 제공자의 경우</a:t>
            </a:r>
            <a:r>
              <a:rPr lang="en-US" altLang="ko-KR" dirty="0"/>
              <a:t>, </a:t>
            </a:r>
            <a:r>
              <a:rPr lang="ko-KR" altLang="en-US" dirty="0"/>
              <a:t>다양한 공간 데이터를 하나의 </a:t>
            </a:r>
            <a:r>
              <a:rPr lang="en-US" altLang="ko-KR" dirty="0"/>
              <a:t>3D </a:t>
            </a:r>
            <a:r>
              <a:rPr lang="ko-KR" altLang="en-US" dirty="0"/>
              <a:t>공간에 통합하는 과정이 어렵고</a:t>
            </a:r>
            <a:r>
              <a:rPr lang="en-US" altLang="ko-KR" dirty="0"/>
              <a:t>, </a:t>
            </a:r>
            <a:r>
              <a:rPr lang="ko-KR" altLang="en-US" dirty="0"/>
              <a:t>데이터 변환과 처리 과정에서 많은 시간과 비용이 소요된다는 문제가 있습니다</a:t>
            </a:r>
            <a:r>
              <a:rPr lang="en-US" altLang="ko-KR" dirty="0"/>
              <a:t>. </a:t>
            </a:r>
            <a:r>
              <a:rPr lang="ko-KR" altLang="en-US" dirty="0"/>
              <a:t>또한 향후 기능을 추가하거나 서비스를 확장하기 위해서는 개발과 관리가 용이한 시스템이 필요합니다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따라서 기존 </a:t>
            </a:r>
            <a:r>
              <a:rPr lang="en-US" altLang="ko-KR" dirty="0"/>
              <a:t>2D </a:t>
            </a:r>
            <a:r>
              <a:rPr lang="ko-KR" altLang="en-US" dirty="0"/>
              <a:t>지도 서비스는 공간 구조를 직관적으로 이해하기 어렵고 다양한 공간 데이터를 효율적으로 활용하는 데 한계가 있다고 볼 수 있습니다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이해당사자들이 이러한 시스템을 필요로 하는 이유입니다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실제 현실과 유사하게 도시 공간을 표현함으로써 사용자가 공간 정보를 보다 직관적으로 이해할 수 있도록 하기 </a:t>
            </a:r>
            <a:r>
              <a:rPr lang="ko-KR" altLang="en-US" dirty="0" err="1"/>
              <a:t>위함입니다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다양한 공간 데이터를 보다 효율적으로 활용하고</a:t>
            </a:r>
            <a:r>
              <a:rPr lang="en-US" altLang="ko-KR" dirty="0"/>
              <a:t>, </a:t>
            </a:r>
            <a:r>
              <a:rPr lang="ko-KR" altLang="en-US" dirty="0"/>
              <a:t>향후 기능을 추가하거나 확장하기 쉬운 시스템을 구축하기 위한 목적도 있습니다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마지막으로 게임엔진 기반 환경을 활용하여 시스템의 안정적인 유지보수와 효율적인 설계를 가능하게 하기 위해 이러한 접근 방식을 선택하게 되었습니다</a:t>
            </a:r>
            <a:r>
              <a:rPr lang="en-US" altLang="ko-K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157261-77AA-8D24-5B35-0744BA79EB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4B5F1D3-F1A2-B5CA-CCA5-7F63BB438AF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F158A90-1229-3B17-FC1C-E72B74C68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이어서 프로젝트 수행자의 의도에 대한 내용입니다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게임엔진 기반 </a:t>
            </a:r>
            <a:r>
              <a:rPr lang="en-US" altLang="ko-KR" dirty="0"/>
              <a:t>3D </a:t>
            </a:r>
            <a:r>
              <a:rPr lang="ko-KR" altLang="en-US" dirty="0"/>
              <a:t>지도 시각화입니다</a:t>
            </a:r>
            <a:r>
              <a:rPr lang="en-US" altLang="ko-KR" dirty="0"/>
              <a:t>. </a:t>
            </a:r>
            <a:r>
              <a:rPr lang="ko-KR" altLang="en-US" dirty="0"/>
              <a:t>실시간 렌더링 성능이 뛰어난 게임엔진을 활용하여 도시 공간을 현실과 유사한 형태로 </a:t>
            </a:r>
            <a:r>
              <a:rPr lang="ko-KR" altLang="en-US" dirty="0" err="1"/>
              <a:t>시각화하고자</a:t>
            </a:r>
            <a:r>
              <a:rPr lang="ko-KR" altLang="en-US" dirty="0"/>
              <a:t>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두 번째로는 직관적인 공간 탐색 환경을 제공하는 것입니다</a:t>
            </a:r>
            <a:r>
              <a:rPr lang="en-US" altLang="ko-KR" dirty="0"/>
              <a:t>. </a:t>
            </a:r>
            <a:r>
              <a:rPr lang="ko-KR" altLang="en-US" dirty="0"/>
              <a:t>사용자가 도시 공간을 입체적으로 확인하고 보다 직관적으로 공간 정보를 이해할 수 있는 지도 환경을 제공하는 것을 목표로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마지막으로 실제 국내 공간 데이터를 활용하여 지리 공간 데이터를 다루는 개발 역량을 확보하고자 합니다</a:t>
            </a:r>
            <a:r>
              <a:rPr lang="en-US" altLang="ko-KR" dirty="0"/>
              <a:t>. </a:t>
            </a:r>
            <a:r>
              <a:rPr lang="ko-KR" altLang="en-US" dirty="0"/>
              <a:t>또한 향후 디지털 트윈으로 확장 가능한 시스템의 가능성을 탐색하고자 합니다</a:t>
            </a:r>
            <a:r>
              <a:rPr lang="en-US" altLang="ko-K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DB1107-34F9-B5DB-8919-B031D3B8A32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2220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본 프로젝트의 탐구 내용과 기대 결과에 대한 내용입니다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탐구 내용입니다</a:t>
            </a:r>
            <a:r>
              <a:rPr lang="en-US" altLang="ko-KR" dirty="0"/>
              <a:t>. </a:t>
            </a:r>
            <a:r>
              <a:rPr lang="ko-KR" altLang="en-US" dirty="0"/>
              <a:t>본 프로젝트에서는 수치지도와 </a:t>
            </a:r>
            <a:r>
              <a:rPr lang="en-US" altLang="ko-KR" dirty="0"/>
              <a:t>V-World </a:t>
            </a:r>
            <a:r>
              <a:rPr lang="ko-KR" altLang="en-US" dirty="0"/>
              <a:t>등 다양한 국내 공간 데이터 포맷을 분석하고</a:t>
            </a:r>
            <a:r>
              <a:rPr lang="en-US" altLang="ko-KR" dirty="0"/>
              <a:t>, </a:t>
            </a:r>
            <a:r>
              <a:rPr lang="ko-KR" altLang="en-US" dirty="0"/>
              <a:t>이러한 데이터를 게임엔진 환경에서 활용할 수 있도록 데이터 변환 및 최적화 프로세스를 연구하고자 합니다</a:t>
            </a:r>
            <a:r>
              <a:rPr lang="en-US" altLang="ko-KR" dirty="0"/>
              <a:t>. </a:t>
            </a:r>
            <a:r>
              <a:rPr lang="ko-KR" altLang="en-US" dirty="0"/>
              <a:t>또한 국내 주요 지역의 공간 데이터를 활용하여 게임엔진 기반의 </a:t>
            </a:r>
            <a:r>
              <a:rPr lang="en-US" altLang="ko-KR" dirty="0"/>
              <a:t>3D </a:t>
            </a:r>
            <a:r>
              <a:rPr lang="ko-KR" altLang="en-US" dirty="0"/>
              <a:t>지도 시각화 프로토타입을 구현할 계획입니다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다음으로 기대 결과입니다</a:t>
            </a:r>
            <a:r>
              <a:rPr lang="en-US" altLang="ko-KR" dirty="0"/>
              <a:t>. </a:t>
            </a:r>
            <a:r>
              <a:rPr lang="ko-KR" altLang="en-US" dirty="0"/>
              <a:t>데이터 변환 과정에서 소요되는 시간을 분석하여 데이터 처리 프로세스의 효율성을 평가하고 개선 가능성을 확인하고자 합니다</a:t>
            </a:r>
            <a:r>
              <a:rPr lang="en-US" altLang="ko-KR" dirty="0"/>
              <a:t>. </a:t>
            </a:r>
            <a:r>
              <a:rPr lang="ko-KR" altLang="en-US" dirty="0"/>
              <a:t>또한 사용자 테스트를 통해 조작 편의성과 시각적 만족도를 평가하여 사용자 경험 측면에서의 활용 가능성을 검토할 계획입니다</a:t>
            </a:r>
            <a:r>
              <a:rPr lang="en-US" altLang="ko-KR" dirty="0"/>
              <a:t>. </a:t>
            </a:r>
            <a:r>
              <a:rPr lang="ko-KR" altLang="en-US" dirty="0"/>
              <a:t>마지막으로 이러한 연구를 통해 공간 정보 시각화 및 디지털 트윈 분야로 확장 가능한 기술적 기반을 마련하는 것을 기대하고 있습니다</a:t>
            </a:r>
            <a:r>
              <a:rPr lang="en-US" altLang="ko-KR" dirty="0"/>
              <a:t>.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프로젝트 수행을 위해 필요한 학습 계획입니다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게임엔진 기초와 기반 언어에 대한 학습을 통해 게임엔진 환경에서 </a:t>
            </a:r>
            <a:r>
              <a:rPr lang="en-US" altLang="ko-KR" dirty="0"/>
              <a:t>3D </a:t>
            </a:r>
            <a:r>
              <a:rPr lang="ko-KR" altLang="en-US" dirty="0"/>
              <a:t>공간을 구현하고 제어할 수 있는 기본적인 개발 역량을 확보하고자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다음으로 </a:t>
            </a:r>
            <a:r>
              <a:rPr lang="en-US" altLang="ko-KR" dirty="0"/>
              <a:t>Cesium</a:t>
            </a:r>
            <a:r>
              <a:rPr lang="ko-KR" altLang="en-US" dirty="0"/>
              <a:t>과 </a:t>
            </a:r>
            <a:r>
              <a:rPr lang="en-US" altLang="ko-KR" dirty="0"/>
              <a:t>GIS </a:t>
            </a:r>
            <a:r>
              <a:rPr lang="ko-KR" altLang="en-US" dirty="0"/>
              <a:t>관련 기술을 학습하여 실제 지리 공간 데이터를 게임엔진 환경에서 활용할 수 있는 방법을 이해하고자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또한 </a:t>
            </a:r>
            <a:r>
              <a:rPr lang="en-US" altLang="ko-KR" dirty="0"/>
              <a:t>3D </a:t>
            </a:r>
            <a:r>
              <a:rPr lang="ko-KR" altLang="en-US" dirty="0"/>
              <a:t>데이터 최적화와 렌더링 기법을 학습하여 많은 공간 데이터를 효율적으로 처리하고 시각적으로 표현할 수 있는 방법을 연구할 계획입니다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마지막으로 사용자 인터페이스와 사용자 경험 설계에 대한 학습을 통해 사용자가 보다 직관적으로 지도를 탐색할 수 있는 환경을 구현하고자 합니다</a:t>
            </a:r>
            <a:r>
              <a:rPr lang="en-US" altLang="ko-KR" dirty="0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 dirty="0"/>
              <a:t>다음은 프로젝트 관련 관찰 계획에 대한 내용입니다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먼저 현재 운용 중인 </a:t>
            </a:r>
            <a:r>
              <a:rPr lang="en-US" altLang="ko-KR" dirty="0"/>
              <a:t>3D </a:t>
            </a:r>
            <a:r>
              <a:rPr lang="ko-KR" altLang="en-US" dirty="0"/>
              <a:t>지도 서비스에 대한 조사를 진행할 계획입니다</a:t>
            </a:r>
            <a:r>
              <a:rPr lang="en-US" altLang="ko-KR" dirty="0"/>
              <a:t>. </a:t>
            </a:r>
            <a:r>
              <a:rPr lang="ko-KR" altLang="en-US" dirty="0"/>
              <a:t>국내에서 활용되고 있는 </a:t>
            </a:r>
            <a:r>
              <a:rPr lang="en-US" altLang="ko-KR" dirty="0"/>
              <a:t>3D </a:t>
            </a:r>
            <a:r>
              <a:rPr lang="ko-KR" altLang="en-US" dirty="0"/>
              <a:t>지도와 공간 데이터 서비스를 조사하고</a:t>
            </a:r>
            <a:r>
              <a:rPr lang="en-US" altLang="ko-KR" dirty="0"/>
              <a:t>, </a:t>
            </a:r>
            <a:r>
              <a:rPr lang="ko-KR" altLang="en-US" dirty="0"/>
              <a:t>기존 시스템의 기능과 활용 방식</a:t>
            </a:r>
            <a:r>
              <a:rPr lang="en-US" altLang="ko-KR" dirty="0"/>
              <a:t>, </a:t>
            </a:r>
            <a:r>
              <a:rPr lang="ko-KR" altLang="en-US" dirty="0"/>
              <a:t>그리고 그에 따른 한계점을 분석하고자 합니다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다음으로 사용자와 관련된 경험과 요구사항을 조사할 예정입니다</a:t>
            </a:r>
            <a:r>
              <a:rPr lang="en-US" altLang="ko-KR" dirty="0"/>
              <a:t>. </a:t>
            </a:r>
            <a:r>
              <a:rPr lang="ko-KR" altLang="en-US" dirty="0"/>
              <a:t>지도 서비스 이용 경험과 사용자 인터페이스 측면의 요소를 분석하고</a:t>
            </a:r>
            <a:r>
              <a:rPr lang="en-US" altLang="ko-KR" dirty="0"/>
              <a:t>, 3D </a:t>
            </a:r>
            <a:r>
              <a:rPr lang="ko-KR" altLang="en-US" dirty="0"/>
              <a:t>지도 서비스에 대해 사용자가 어떤 기능과 환경을 필요로 하는지 구체적인 요구사항을 조사할 계획입니다</a:t>
            </a:r>
            <a:r>
              <a:rPr lang="en-US" altLang="ko-KR" dirty="0"/>
              <a:t>.</a:t>
            </a:r>
          </a:p>
          <a:p>
            <a:r>
              <a:rPr lang="ko-KR" altLang="en-US" dirty="0"/>
              <a:t>마지막으로 공간 정보 및 지도 데이터를 다루는 관련 기관이나 전문가와 인터뷰를 진행하여 실제 데이터 활용 과정과 개발 및 운영 과정에서의 요구사항을 파악하고자 합니다</a:t>
            </a:r>
            <a:r>
              <a:rPr lang="en-US" altLang="ko-KR"/>
              <a:t>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DD6C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C16FBF3-F2A6-5EC9-1D3E-282C7F66075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400" dirty="0">
              <a:latin typeface="AppleSDGothicNeoH00" panose="02000503000000000000" pitchFamily="2" charset="-127"/>
              <a:ea typeface="AppleSDGothicNeoH00" panose="02000503000000000000" pitchFamily="2" charset="-127"/>
            </a:endParaRPr>
          </a:p>
        </p:txBody>
      </p:sp>
      <p:sp>
        <p:nvSpPr>
          <p:cNvPr id="2" name="Text 0"/>
          <p:cNvSpPr/>
          <p:nvPr/>
        </p:nvSpPr>
        <p:spPr>
          <a:xfrm>
            <a:off x="1333790" y="3408878"/>
            <a:ext cx="107981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7200" b="1" dirty="0" err="1">
                <a:solidFill>
                  <a:srgbClr val="282824"/>
                </a:solidFill>
                <a:latin typeface="프리젠테이션 9 Black" pitchFamily="2" charset="-127"/>
                <a:ea typeface="프리젠테이션 9 Black" pitchFamily="2" charset="-127"/>
                <a:cs typeface="Lato Bold" pitchFamily="34" charset="-120"/>
              </a:rPr>
              <a:t>디자인</a:t>
            </a:r>
            <a:r>
              <a:rPr lang="en-US" sz="7200" b="1" dirty="0">
                <a:solidFill>
                  <a:srgbClr val="282824"/>
                </a:solidFill>
                <a:latin typeface="프리젠테이션 9 Black" pitchFamily="2" charset="-127"/>
                <a:ea typeface="프리젠테이션 9 Black" pitchFamily="2" charset="-127"/>
                <a:cs typeface="Lato Bold" pitchFamily="34" charset="-120"/>
              </a:rPr>
              <a:t> </a:t>
            </a:r>
            <a:r>
              <a:rPr lang="en-US" sz="7200" b="1" dirty="0" err="1">
                <a:solidFill>
                  <a:srgbClr val="282824"/>
                </a:solidFill>
                <a:latin typeface="프리젠테이션 9 Black" pitchFamily="2" charset="-127"/>
                <a:ea typeface="프리젠테이션 9 Black" pitchFamily="2" charset="-127"/>
                <a:cs typeface="Lato Bold" pitchFamily="34" charset="-120"/>
              </a:rPr>
              <a:t>개요서</a:t>
            </a:r>
            <a:endParaRPr lang="en-US" sz="7200" dirty="0">
              <a:latin typeface="프리젠테이션 9 Black" pitchFamily="2" charset="-127"/>
              <a:ea typeface="프리젠테이션 9 Black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1333790" y="4181760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altLang="ko-KR" sz="3200" dirty="0">
                <a:latin typeface="프리젠테이션 3 Light" pitchFamily="2" charset="-127"/>
                <a:ea typeface="프리젠테이션 3 Light" pitchFamily="2" charset="-127"/>
              </a:rPr>
              <a:t>: </a:t>
            </a:r>
            <a:r>
              <a:rPr lang="ko-KR" altLang="en-US" sz="3200" dirty="0">
                <a:latin typeface="프리젠테이션 3 Light" pitchFamily="2" charset="-127"/>
                <a:ea typeface="프리젠테이션 3 Light" pitchFamily="2" charset="-127"/>
              </a:rPr>
              <a:t>게임 엔진 기반 국내 </a:t>
            </a:r>
            <a:r>
              <a:rPr lang="en-US" sz="3200" dirty="0">
                <a:latin typeface="프리젠테이션 3 Light" pitchFamily="2" charset="-127"/>
                <a:ea typeface="프리젠테이션 3 Light" pitchFamily="2" charset="-127"/>
              </a:rPr>
              <a:t>3</a:t>
            </a:r>
            <a:r>
              <a:rPr lang="ko-KR" altLang="en-US" sz="3200" dirty="0">
                <a:latin typeface="프리젠테이션 3 Light" pitchFamily="2" charset="-127"/>
                <a:ea typeface="프리젠테이션 3 Light" pitchFamily="2" charset="-127"/>
              </a:rPr>
              <a:t>차원 지도</a:t>
            </a:r>
            <a:endParaRPr lang="en-US" sz="32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BF88BD-0AEC-1F24-8FEF-A670895FC841}"/>
              </a:ext>
            </a:extLst>
          </p:cNvPr>
          <p:cNvSpPr txBox="1"/>
          <p:nvPr/>
        </p:nvSpPr>
        <p:spPr>
          <a:xfrm>
            <a:off x="7257600" y="5817600"/>
            <a:ext cx="57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22056A1-5C2E-A13F-4893-EBED091CD60C}"/>
              </a:ext>
            </a:extLst>
          </p:cNvPr>
          <p:cNvSpPr txBox="1"/>
          <p:nvPr/>
        </p:nvSpPr>
        <p:spPr>
          <a:xfrm>
            <a:off x="11095200" y="6002266"/>
            <a:ext cx="28800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[15]</a:t>
            </a:r>
          </a:p>
          <a:p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202002581    </a:t>
            </a:r>
            <a:r>
              <a:rPr lang="ko-KR" altLang="en-US" sz="2000" dirty="0">
                <a:latin typeface="프리젠테이션 3 Light" pitchFamily="2" charset="-127"/>
                <a:ea typeface="프리젠테이션 3 Light" pitchFamily="2" charset="-127"/>
              </a:rPr>
              <a:t> 황용하</a:t>
            </a:r>
            <a:endParaRPr lang="en-US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202300385     </a:t>
            </a:r>
            <a:r>
              <a:rPr lang="ko-KR" altLang="ko-KR" sz="2000" dirty="0" err="1">
                <a:latin typeface="프리젠테이션 3 Light" pitchFamily="2" charset="-127"/>
                <a:ea typeface="프리젠테이션 3 Light" pitchFamily="2" charset="-127"/>
              </a:rPr>
              <a:t>이혜린</a:t>
            </a:r>
            <a:endParaRPr lang="ko-KR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202102664     </a:t>
            </a:r>
            <a:r>
              <a:rPr lang="ko-KR" altLang="ko-KR" sz="2000" dirty="0" err="1">
                <a:latin typeface="프리젠테이션 3 Light" pitchFamily="2" charset="-127"/>
                <a:ea typeface="프리젠테이션 3 Light" pitchFamily="2" charset="-127"/>
              </a:rPr>
              <a:t>여현서</a:t>
            </a:r>
            <a:endParaRPr lang="ko-KR" altLang="ko-KR" sz="2000" dirty="0">
              <a:latin typeface="프리젠테이션 3 Light" pitchFamily="2" charset="-127"/>
              <a:ea typeface="프리젠테이션 3 Light" pitchFamily="2" charset="-127"/>
            </a:endParaRPr>
          </a:p>
          <a:p>
            <a:r>
              <a:rPr lang="en-US" altLang="ko-KR" sz="2000" dirty="0">
                <a:latin typeface="프리젠테이션 3 Light" pitchFamily="2" charset="-127"/>
                <a:ea typeface="프리젠테이션 3 Light" pitchFamily="2" charset="-127"/>
              </a:rPr>
              <a:t>202102669     </a:t>
            </a:r>
            <a:r>
              <a:rPr lang="ko-KR" altLang="ko-KR" sz="2000" dirty="0">
                <a:latin typeface="프리젠테이션 3 Light" pitchFamily="2" charset="-127"/>
                <a:ea typeface="프리젠테이션 3 Light" pitchFamily="2" charset="-127"/>
              </a:rPr>
              <a:t>유성</a:t>
            </a:r>
          </a:p>
          <a:p>
            <a:endParaRPr lang="ko-KR" altLang="en-US" sz="20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직사각형 34">
            <a:extLst>
              <a:ext uri="{FF2B5EF4-FFF2-40B4-BE49-F238E27FC236}">
                <a16:creationId xmlns:a16="http://schemas.microsoft.com/office/drawing/2014/main" id="{B6BBF4C9-9874-080A-C77D-52F3D6B71A26}"/>
              </a:ext>
            </a:extLst>
          </p:cNvPr>
          <p:cNvSpPr>
            <a:spLocks/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" name="Text 0"/>
          <p:cNvSpPr/>
          <p:nvPr/>
        </p:nvSpPr>
        <p:spPr>
          <a:xfrm>
            <a:off x="2391132" y="783550"/>
            <a:ext cx="6509623" cy="6355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5400" b="1" dirty="0" err="1">
                <a:solidFill>
                  <a:srgbClr val="282824"/>
                </a:solidFill>
                <a:latin typeface="프리젠테이션 8 ExtraBold" pitchFamily="2" charset="-127"/>
                <a:ea typeface="프리젠테이션 8 ExtraBold" pitchFamily="2" charset="-127"/>
                <a:cs typeface="Lato Bold" pitchFamily="34" charset="-120"/>
              </a:rPr>
              <a:t>목차</a:t>
            </a:r>
            <a:endParaRPr lang="en-US" sz="540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3" name="Text 1"/>
          <p:cNvSpPr/>
          <p:nvPr/>
        </p:nvSpPr>
        <p:spPr>
          <a:xfrm>
            <a:off x="2391132" y="1783794"/>
            <a:ext cx="203359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프리젠테이션 3 Light" pitchFamily="2" charset="-127"/>
                <a:ea typeface="프리젠테이션 3 Light" pitchFamily="2" charset="-127"/>
                <a:cs typeface="Lato Light" pitchFamily="34" charset="-120"/>
              </a:rPr>
              <a:t>01</a:t>
            </a:r>
            <a:endParaRPr lang="en-US" sz="16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4" name="Shape 2"/>
          <p:cNvSpPr/>
          <p:nvPr/>
        </p:nvSpPr>
        <p:spPr>
          <a:xfrm>
            <a:off x="2391132" y="2106572"/>
            <a:ext cx="3456000" cy="22860"/>
          </a:xfrm>
          <a:prstGeom prst="rect">
            <a:avLst/>
          </a:prstGeom>
          <a:solidFill>
            <a:srgbClr val="2828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2391132" y="2193012"/>
            <a:ext cx="2542342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ko-KR" altLang="en-US" sz="2400" b="1" dirty="0">
                <a:solidFill>
                  <a:srgbClr val="4A4A45"/>
                </a:solidFill>
                <a:latin typeface="프리젠테이션 7 Bold" pitchFamily="2" charset="-127"/>
                <a:ea typeface="프리젠테이션 7 Bold" pitchFamily="2" charset="-127"/>
                <a:cs typeface="Lato Bold" pitchFamily="34" charset="-120"/>
              </a:rPr>
              <a:t>대상 이해당사자</a:t>
            </a:r>
            <a:endParaRPr lang="en-US" sz="24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7" name="Text 5"/>
          <p:cNvSpPr/>
          <p:nvPr/>
        </p:nvSpPr>
        <p:spPr>
          <a:xfrm>
            <a:off x="8244483" y="1783794"/>
            <a:ext cx="203359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프리젠테이션 3 Light" pitchFamily="2" charset="-127"/>
                <a:ea typeface="프리젠테이션 3 Light" pitchFamily="2" charset="-127"/>
                <a:cs typeface="Lato Light" pitchFamily="34" charset="-120"/>
              </a:rPr>
              <a:t>02</a:t>
            </a:r>
            <a:endParaRPr lang="en-US" sz="16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8" name="Shape 6"/>
          <p:cNvSpPr/>
          <p:nvPr/>
        </p:nvSpPr>
        <p:spPr>
          <a:xfrm>
            <a:off x="8244483" y="2106572"/>
            <a:ext cx="3456000" cy="22860"/>
          </a:xfrm>
          <a:prstGeom prst="rect">
            <a:avLst/>
          </a:prstGeom>
          <a:solidFill>
            <a:srgbClr val="2828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8244482" y="2193012"/>
            <a:ext cx="2961717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ko-KR" altLang="en-US" sz="2400" b="1" dirty="0">
                <a:solidFill>
                  <a:srgbClr val="4A4A45"/>
                </a:solidFill>
                <a:latin typeface="프리젠테이션 7 Bold" pitchFamily="2" charset="-127"/>
                <a:ea typeface="프리젠테이션 7 Bold" pitchFamily="2" charset="-127"/>
                <a:cs typeface="Lato Bold" pitchFamily="34" charset="-120"/>
              </a:rPr>
              <a:t>이해 당사자의 고충 </a:t>
            </a:r>
            <a:r>
              <a:rPr lang="en-US" altLang="ko-KR" sz="2400" b="1" dirty="0">
                <a:solidFill>
                  <a:srgbClr val="4A4A45"/>
                </a:solidFill>
                <a:latin typeface="프리젠테이션 7 Bold" pitchFamily="2" charset="-127"/>
                <a:ea typeface="프리젠테이션 7 Bold" pitchFamily="2" charset="-127"/>
                <a:cs typeface="Lato Bold" pitchFamily="34" charset="-120"/>
              </a:rPr>
              <a:t>/ </a:t>
            </a:r>
            <a:r>
              <a:rPr lang="ko-KR" altLang="en-US" sz="2400" b="1" dirty="0">
                <a:solidFill>
                  <a:srgbClr val="4A4A45"/>
                </a:solidFill>
                <a:latin typeface="프리젠테이션 7 Bold" pitchFamily="2" charset="-127"/>
                <a:ea typeface="프리젠테이션 7 Bold" pitchFamily="2" charset="-127"/>
                <a:cs typeface="Lato Bold" pitchFamily="34" charset="-120"/>
              </a:rPr>
              <a:t>니즈</a:t>
            </a:r>
            <a:endParaRPr lang="en-US" sz="24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11" name="Text 9"/>
          <p:cNvSpPr/>
          <p:nvPr/>
        </p:nvSpPr>
        <p:spPr>
          <a:xfrm>
            <a:off x="2391132" y="3324344"/>
            <a:ext cx="203359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프리젠테이션 3 Light" pitchFamily="2" charset="-127"/>
                <a:ea typeface="프리젠테이션 3 Light" pitchFamily="2" charset="-127"/>
                <a:cs typeface="Lato Light" pitchFamily="34" charset="-120"/>
              </a:rPr>
              <a:t>03</a:t>
            </a:r>
            <a:endParaRPr lang="en-US" sz="16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2" name="Shape 10"/>
          <p:cNvSpPr/>
          <p:nvPr/>
        </p:nvSpPr>
        <p:spPr>
          <a:xfrm>
            <a:off x="2391132" y="3647122"/>
            <a:ext cx="3456000" cy="22860"/>
          </a:xfrm>
          <a:prstGeom prst="rect">
            <a:avLst/>
          </a:prstGeom>
          <a:solidFill>
            <a:srgbClr val="2828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1"/>
          <p:cNvSpPr/>
          <p:nvPr/>
        </p:nvSpPr>
        <p:spPr>
          <a:xfrm>
            <a:off x="2391132" y="3733562"/>
            <a:ext cx="2904530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ko-KR" altLang="en-US" sz="2400" b="1" dirty="0">
                <a:solidFill>
                  <a:srgbClr val="4A4A45"/>
                </a:solidFill>
                <a:latin typeface="프리젠테이션 7 Bold" pitchFamily="2" charset="-127"/>
                <a:ea typeface="프리젠테이션 7 Bold" pitchFamily="2" charset="-127"/>
                <a:cs typeface="Lato Bold" pitchFamily="34" charset="-120"/>
              </a:rPr>
              <a:t>이해당사자의 이유</a:t>
            </a:r>
            <a:endParaRPr lang="en-US" sz="24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8244483" y="3324344"/>
            <a:ext cx="203359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프리젠테이션 3 Light" pitchFamily="2" charset="-127"/>
                <a:ea typeface="프리젠테이션 3 Light" pitchFamily="2" charset="-127"/>
                <a:cs typeface="Lato Light" pitchFamily="34" charset="-120"/>
              </a:rPr>
              <a:t>04</a:t>
            </a:r>
            <a:endParaRPr lang="en-US" sz="16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16" name="Shape 14"/>
          <p:cNvSpPr/>
          <p:nvPr/>
        </p:nvSpPr>
        <p:spPr>
          <a:xfrm>
            <a:off x="8244483" y="3647122"/>
            <a:ext cx="3456000" cy="22860"/>
          </a:xfrm>
          <a:prstGeom prst="rect">
            <a:avLst/>
          </a:prstGeom>
          <a:solidFill>
            <a:srgbClr val="2828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5"/>
          <p:cNvSpPr/>
          <p:nvPr/>
        </p:nvSpPr>
        <p:spPr>
          <a:xfrm>
            <a:off x="8244483" y="3733562"/>
            <a:ext cx="2768798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ko-KR" altLang="en-US" sz="2400" b="1" dirty="0">
                <a:solidFill>
                  <a:srgbClr val="4A4A45"/>
                </a:solidFill>
                <a:latin typeface="프리젠테이션 7 Bold" pitchFamily="2" charset="-127"/>
                <a:ea typeface="프리젠테이션 7 Bold" pitchFamily="2" charset="-127"/>
                <a:cs typeface="Lato Bold" pitchFamily="34" charset="-120"/>
              </a:rPr>
              <a:t>프로젝트 수행자의 의도</a:t>
            </a:r>
            <a:endParaRPr lang="en-US" sz="24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19" name="Text 17"/>
          <p:cNvSpPr/>
          <p:nvPr/>
        </p:nvSpPr>
        <p:spPr>
          <a:xfrm>
            <a:off x="2391132" y="4864893"/>
            <a:ext cx="203359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프리젠테이션 3 Light" pitchFamily="2" charset="-127"/>
                <a:ea typeface="프리젠테이션 3 Light" pitchFamily="2" charset="-127"/>
                <a:cs typeface="Lato Light" pitchFamily="34" charset="-120"/>
              </a:rPr>
              <a:t>05</a:t>
            </a:r>
            <a:endParaRPr lang="en-US" sz="16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0" name="Shape 18"/>
          <p:cNvSpPr/>
          <p:nvPr/>
        </p:nvSpPr>
        <p:spPr>
          <a:xfrm>
            <a:off x="2391132" y="5187672"/>
            <a:ext cx="3456000" cy="22860"/>
          </a:xfrm>
          <a:prstGeom prst="rect">
            <a:avLst/>
          </a:prstGeom>
          <a:solidFill>
            <a:srgbClr val="2828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9"/>
          <p:cNvSpPr/>
          <p:nvPr/>
        </p:nvSpPr>
        <p:spPr>
          <a:xfrm>
            <a:off x="2391132" y="5274111"/>
            <a:ext cx="2542342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4A4A45"/>
                </a:solidFill>
                <a:latin typeface="프리젠테이션 7 Bold" pitchFamily="2" charset="-127"/>
                <a:ea typeface="프리젠테이션 7 Bold" pitchFamily="2" charset="-127"/>
                <a:cs typeface="Lato Bold" pitchFamily="34" charset="-120"/>
              </a:rPr>
              <a:t>탐구 내용 및 </a:t>
            </a:r>
            <a:r>
              <a:rPr lang="ko-KR" altLang="en-US" sz="2400" b="1" dirty="0">
                <a:solidFill>
                  <a:srgbClr val="4A4A45"/>
                </a:solidFill>
                <a:latin typeface="프리젠테이션 7 Bold" pitchFamily="2" charset="-127"/>
                <a:ea typeface="프리젠테이션 7 Bold" pitchFamily="2" charset="-127"/>
                <a:cs typeface="Lato Bold" pitchFamily="34" charset="-120"/>
              </a:rPr>
              <a:t>기대</a:t>
            </a:r>
            <a:r>
              <a:rPr lang="en-US" sz="2400" b="1" dirty="0">
                <a:solidFill>
                  <a:srgbClr val="4A4A45"/>
                </a:solidFill>
                <a:latin typeface="프리젠테이션 7 Bold" pitchFamily="2" charset="-127"/>
                <a:ea typeface="프리젠테이션 7 Bold" pitchFamily="2" charset="-127"/>
                <a:cs typeface="Lato Bold" pitchFamily="34" charset="-120"/>
              </a:rPr>
              <a:t> 결과</a:t>
            </a:r>
            <a:endParaRPr lang="en-US" sz="24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3" name="Text 21"/>
          <p:cNvSpPr/>
          <p:nvPr/>
        </p:nvSpPr>
        <p:spPr>
          <a:xfrm>
            <a:off x="8244483" y="4864893"/>
            <a:ext cx="203359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프리젠테이션 3 Light" pitchFamily="2" charset="-127"/>
                <a:ea typeface="프리젠테이션 3 Light" pitchFamily="2" charset="-127"/>
                <a:cs typeface="Lato Light" pitchFamily="34" charset="-120"/>
              </a:rPr>
              <a:t>06</a:t>
            </a:r>
            <a:endParaRPr lang="en-US" sz="16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4" name="Shape 22"/>
          <p:cNvSpPr/>
          <p:nvPr/>
        </p:nvSpPr>
        <p:spPr>
          <a:xfrm>
            <a:off x="8244483" y="5187672"/>
            <a:ext cx="3456000" cy="22860"/>
          </a:xfrm>
          <a:prstGeom prst="rect">
            <a:avLst/>
          </a:prstGeom>
          <a:solidFill>
            <a:srgbClr val="2828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3"/>
          <p:cNvSpPr/>
          <p:nvPr/>
        </p:nvSpPr>
        <p:spPr>
          <a:xfrm>
            <a:off x="8244483" y="5274111"/>
            <a:ext cx="2542342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ko-KR" altLang="en-US" sz="2400" b="1" dirty="0">
                <a:solidFill>
                  <a:srgbClr val="4A4A45"/>
                </a:solidFill>
                <a:latin typeface="프리젠테이션 7 Bold" pitchFamily="2" charset="-127"/>
                <a:ea typeface="프리젠테이션 7 Bold" pitchFamily="2" charset="-127"/>
              </a:rPr>
              <a:t>프로젝트 관련 학습 계획</a:t>
            </a:r>
            <a:endParaRPr lang="en-US" sz="24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27" name="Text 25"/>
          <p:cNvSpPr/>
          <p:nvPr/>
        </p:nvSpPr>
        <p:spPr>
          <a:xfrm>
            <a:off x="2391132" y="6405443"/>
            <a:ext cx="203359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프리젠테이션 3 Light" pitchFamily="2" charset="-127"/>
                <a:ea typeface="프리젠테이션 3 Light" pitchFamily="2" charset="-127"/>
                <a:cs typeface="Lato Light" pitchFamily="34" charset="-120"/>
              </a:rPr>
              <a:t>07</a:t>
            </a:r>
            <a:endParaRPr lang="en-US" sz="16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28" name="Shape 26"/>
          <p:cNvSpPr/>
          <p:nvPr/>
        </p:nvSpPr>
        <p:spPr>
          <a:xfrm>
            <a:off x="2391132" y="6728222"/>
            <a:ext cx="3456000" cy="22860"/>
          </a:xfrm>
          <a:prstGeom prst="rect">
            <a:avLst/>
          </a:prstGeom>
          <a:solidFill>
            <a:srgbClr val="2828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7"/>
          <p:cNvSpPr/>
          <p:nvPr/>
        </p:nvSpPr>
        <p:spPr>
          <a:xfrm>
            <a:off x="2391132" y="6814661"/>
            <a:ext cx="2542342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ko-KR" altLang="en-US" sz="2400" b="1" dirty="0">
                <a:solidFill>
                  <a:srgbClr val="4A4A45"/>
                </a:solidFill>
                <a:latin typeface="프리젠테이션 7 Bold" pitchFamily="2" charset="-127"/>
                <a:ea typeface="프리젠테이션 7 Bold" pitchFamily="2" charset="-127"/>
                <a:cs typeface="Lato Bold" pitchFamily="34" charset="-120"/>
              </a:rPr>
              <a:t>프로젝트 관련</a:t>
            </a:r>
            <a:r>
              <a:rPr lang="en-US" altLang="ko-KR" sz="2400" b="1" dirty="0">
                <a:solidFill>
                  <a:srgbClr val="4A4A45"/>
                </a:solidFill>
                <a:latin typeface="프리젠테이션 7 Bold" pitchFamily="2" charset="-127"/>
                <a:ea typeface="프리젠테이션 7 Bold" pitchFamily="2" charset="-127"/>
                <a:cs typeface="Lato Bold" pitchFamily="34" charset="-120"/>
              </a:rPr>
              <a:t> </a:t>
            </a:r>
            <a:r>
              <a:rPr lang="ko-KR" altLang="en-US" sz="2400" b="1" dirty="0">
                <a:solidFill>
                  <a:srgbClr val="4A4A45"/>
                </a:solidFill>
                <a:latin typeface="프리젠테이션 7 Bold" pitchFamily="2" charset="-127"/>
                <a:ea typeface="프리젠테이션 7 Bold" pitchFamily="2" charset="-127"/>
                <a:cs typeface="Lato Bold" pitchFamily="34" charset="-120"/>
              </a:rPr>
              <a:t>관찰 계획</a:t>
            </a:r>
            <a:endParaRPr lang="en-US" sz="24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31" name="Text 29"/>
          <p:cNvSpPr/>
          <p:nvPr/>
        </p:nvSpPr>
        <p:spPr>
          <a:xfrm>
            <a:off x="8244483" y="6405443"/>
            <a:ext cx="203359" cy="254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600" dirty="0">
                <a:solidFill>
                  <a:srgbClr val="4A4A45"/>
                </a:solidFill>
                <a:latin typeface="프리젠테이션 3 Light" pitchFamily="2" charset="-127"/>
                <a:ea typeface="프리젠테이션 3 Light" pitchFamily="2" charset="-127"/>
                <a:cs typeface="Lato Light" pitchFamily="34" charset="-120"/>
              </a:rPr>
              <a:t>08</a:t>
            </a:r>
            <a:endParaRPr lang="en-US" sz="1600" dirty="0">
              <a:latin typeface="프리젠테이션 3 Light" pitchFamily="2" charset="-127"/>
              <a:ea typeface="프리젠테이션 3 Light" pitchFamily="2" charset="-127"/>
            </a:endParaRPr>
          </a:p>
        </p:txBody>
      </p:sp>
      <p:sp>
        <p:nvSpPr>
          <p:cNvPr id="32" name="Shape 30"/>
          <p:cNvSpPr/>
          <p:nvPr/>
        </p:nvSpPr>
        <p:spPr>
          <a:xfrm>
            <a:off x="8244483" y="6728222"/>
            <a:ext cx="3456000" cy="22860"/>
          </a:xfrm>
          <a:prstGeom prst="rect">
            <a:avLst/>
          </a:prstGeom>
          <a:solidFill>
            <a:srgbClr val="2828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31"/>
          <p:cNvSpPr/>
          <p:nvPr/>
        </p:nvSpPr>
        <p:spPr>
          <a:xfrm>
            <a:off x="8244483" y="6814661"/>
            <a:ext cx="2542342" cy="3176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400" b="1" dirty="0">
                <a:solidFill>
                  <a:srgbClr val="4A4A45"/>
                </a:solidFill>
                <a:latin typeface="프리젠테이션 7 Bold" pitchFamily="2" charset="-127"/>
                <a:ea typeface="프리젠테이션 7 Bold" pitchFamily="2" charset="-127"/>
                <a:cs typeface="Lato Bold" pitchFamily="34" charset="-120"/>
              </a:rPr>
              <a:t>Q&amp;A</a:t>
            </a:r>
            <a:endParaRPr lang="en-US" sz="24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>
            <a:extLst>
              <a:ext uri="{FF2B5EF4-FFF2-40B4-BE49-F238E27FC236}">
                <a16:creationId xmlns:a16="http://schemas.microsoft.com/office/drawing/2014/main" id="{CA4AD3A7-F1D2-8A1F-E989-572AA889DE89}"/>
              </a:ext>
            </a:extLst>
          </p:cNvPr>
          <p:cNvSpPr>
            <a:spLocks/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0"/>
          <p:cNvSpPr/>
          <p:nvPr/>
        </p:nvSpPr>
        <p:spPr>
          <a:xfrm>
            <a:off x="793790" y="2347199"/>
            <a:ext cx="102597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b="1" dirty="0">
                <a:solidFill>
                  <a:srgbClr val="282824"/>
                </a:solidFill>
                <a:latin typeface="프리젠테이션 8 ExtraBold" pitchFamily="2" charset="-127"/>
                <a:ea typeface="프리젠테이션 8 ExtraBold" pitchFamily="2" charset="-127"/>
                <a:cs typeface="Lato Bold" pitchFamily="34" charset="-120"/>
              </a:rPr>
              <a:t>1. </a:t>
            </a:r>
            <a:r>
              <a:rPr lang="ko-KR" altLang="en-US" sz="4800" b="1" dirty="0">
                <a:solidFill>
                  <a:srgbClr val="282824"/>
                </a:solidFill>
                <a:latin typeface="프리젠테이션 8 ExtraBold" pitchFamily="2" charset="-127"/>
                <a:ea typeface="프리젠테이션 8 ExtraBold" pitchFamily="2" charset="-127"/>
                <a:cs typeface="Lato Bold" pitchFamily="34" charset="-120"/>
              </a:rPr>
              <a:t>대상 이해당사자</a:t>
            </a:r>
            <a:endParaRPr lang="en-US" sz="480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793790" y="3396138"/>
            <a:ext cx="6407944" cy="1777485"/>
          </a:xfrm>
          <a:prstGeom prst="roundRect">
            <a:avLst>
              <a:gd name="adj" fmla="val 1884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Text 2"/>
          <p:cNvSpPr/>
          <p:nvPr/>
        </p:nvSpPr>
        <p:spPr>
          <a:xfrm>
            <a:off x="1020604" y="36229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ko-KR" altLang="en-US" sz="2400" b="1" dirty="0">
                <a:solidFill>
                  <a:srgbClr val="4A4A45"/>
                </a:solidFill>
                <a:latin typeface="프리젠테이션 6 SemiBold" pitchFamily="2" charset="-127"/>
                <a:ea typeface="프리젠테이션 6 SemiBold" pitchFamily="2" charset="-127"/>
                <a:cs typeface="Lato Bold" pitchFamily="34" charset="-120"/>
              </a:rPr>
              <a:t>일반 사용자</a:t>
            </a:r>
            <a:endParaRPr lang="en-US" sz="24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5" name="Text 3"/>
          <p:cNvSpPr/>
          <p:nvPr/>
        </p:nvSpPr>
        <p:spPr>
          <a:xfrm>
            <a:off x="1020604" y="4113372"/>
            <a:ext cx="5954316" cy="12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50"/>
              </a:lnSpc>
            </a:pPr>
            <a:r>
              <a:rPr lang="ko-KR" altLang="en-US" sz="1750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도시의 공간과 위치 정보를 탐색하기 위해</a:t>
            </a:r>
            <a:r>
              <a:rPr lang="en-US" altLang="ko-KR" sz="1750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 </a:t>
            </a:r>
            <a:r>
              <a:rPr lang="ko-KR" altLang="en-US" sz="1750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지도 서비스를 이용하는 주요 사용자</a:t>
            </a:r>
            <a:endParaRPr lang="en-US" altLang="ko-KR" sz="1750" dirty="0">
              <a:solidFill>
                <a:srgbClr val="4A4A45"/>
              </a:solidFill>
              <a:latin typeface="프리젠테이션 4 Regular" pitchFamily="2" charset="-127"/>
              <a:ea typeface="프리젠테이션 4 Regular" pitchFamily="2" charset="-127"/>
              <a:cs typeface="Lato" pitchFamily="34" charset="-120"/>
            </a:endParaRPr>
          </a:p>
          <a:p>
            <a:pPr algn="l">
              <a:lnSpc>
                <a:spcPts val="2850"/>
              </a:lnSpc>
            </a:pPr>
            <a:r>
              <a:rPr lang="ko-KR" altLang="en-US" sz="1750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직관적이고 편리한 지도 탐색 필요</a:t>
            </a:r>
            <a:endParaRPr lang="en-US" sz="175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AF92B5D8-2B6A-CCEA-6864-351228837413}"/>
              </a:ext>
            </a:extLst>
          </p:cNvPr>
          <p:cNvSpPr/>
          <p:nvPr/>
        </p:nvSpPr>
        <p:spPr>
          <a:xfrm>
            <a:off x="7598688" y="3396138"/>
            <a:ext cx="6407944" cy="1777485"/>
          </a:xfrm>
          <a:prstGeom prst="roundRect">
            <a:avLst>
              <a:gd name="adj" fmla="val 1884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35ED5935-D289-0C3A-946A-A4F47C60D7AB}"/>
              </a:ext>
            </a:extLst>
          </p:cNvPr>
          <p:cNvSpPr/>
          <p:nvPr/>
        </p:nvSpPr>
        <p:spPr>
          <a:xfrm>
            <a:off x="7825502" y="362295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ko-KR" altLang="en-US" sz="2400" b="1" dirty="0">
                <a:solidFill>
                  <a:srgbClr val="4A4A45"/>
                </a:solidFill>
                <a:latin typeface="프리젠테이션 6 SemiBold" pitchFamily="2" charset="-127"/>
                <a:ea typeface="프리젠테이션 6 SemiBold" pitchFamily="2" charset="-127"/>
              </a:rPr>
              <a:t>데이터 관리 및 제공자</a:t>
            </a:r>
            <a:endParaRPr lang="en-US" sz="24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53EF6B56-8065-38E8-E702-87888F2A2E6F}"/>
              </a:ext>
            </a:extLst>
          </p:cNvPr>
          <p:cNvSpPr/>
          <p:nvPr/>
        </p:nvSpPr>
        <p:spPr>
          <a:xfrm>
            <a:off x="7825502" y="4113373"/>
            <a:ext cx="5954316" cy="9082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50"/>
              </a:lnSpc>
            </a:pPr>
            <a:r>
              <a:rPr lang="en-US" altLang="ko-KR" sz="1750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3D</a:t>
            </a:r>
            <a:r>
              <a:rPr lang="ko-KR" altLang="en-US" sz="1750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 지도 서비스를 제공하는 주체</a:t>
            </a:r>
            <a:endParaRPr lang="en-US" altLang="ko-KR" sz="1750" dirty="0">
              <a:solidFill>
                <a:srgbClr val="4A4A45"/>
              </a:solidFill>
              <a:latin typeface="프리젠테이션 4 Regular" pitchFamily="2" charset="-127"/>
              <a:ea typeface="프리젠테이션 4 Regular" pitchFamily="2" charset="-127"/>
              <a:cs typeface="Lato" pitchFamily="34" charset="-120"/>
            </a:endParaRPr>
          </a:p>
          <a:p>
            <a:pPr algn="l">
              <a:lnSpc>
                <a:spcPts val="2850"/>
              </a:lnSpc>
            </a:pPr>
            <a:r>
              <a:rPr lang="ko-KR" altLang="en-US" sz="1750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지도 시스템의 유지보수와 데이터의 업데이트를 제공</a:t>
            </a:r>
            <a:endParaRPr lang="en-US" altLang="ko-KR" sz="1750" dirty="0">
              <a:solidFill>
                <a:srgbClr val="4A4A45"/>
              </a:solidFill>
              <a:latin typeface="프리젠테이션 4 Regular" pitchFamily="2" charset="-127"/>
              <a:ea typeface="프리젠테이션 4 Regular" pitchFamily="2" charset="-127"/>
              <a:cs typeface="Lato" pitchFamily="34" charset="-12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D6DCACC1-EEF9-20CA-BF40-B1E5E1511610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FCB745AD-50B5-A390-10FD-1098F05359F3}"/>
              </a:ext>
            </a:extLst>
          </p:cNvPr>
          <p:cNvSpPr/>
          <p:nvPr/>
        </p:nvSpPr>
        <p:spPr>
          <a:xfrm>
            <a:off x="793790" y="2347199"/>
            <a:ext cx="102597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b="1" dirty="0">
                <a:solidFill>
                  <a:srgbClr val="282824"/>
                </a:solidFill>
                <a:latin typeface="프리젠테이션 8 ExtraBold" pitchFamily="2" charset="-127"/>
                <a:ea typeface="프리젠테이션 8 ExtraBold" pitchFamily="2" charset="-127"/>
                <a:cs typeface="Lato Bold" pitchFamily="34" charset="-120"/>
              </a:rPr>
              <a:t>2. </a:t>
            </a:r>
            <a:r>
              <a:rPr lang="ko-KR" altLang="en-US" sz="4800" b="1" dirty="0">
                <a:solidFill>
                  <a:srgbClr val="282824"/>
                </a:solidFill>
                <a:latin typeface="프리젠테이션 8 ExtraBold" pitchFamily="2" charset="-127"/>
                <a:ea typeface="프리젠테이션 8 ExtraBold" pitchFamily="2" charset="-127"/>
                <a:cs typeface="Lato Bold" pitchFamily="34" charset="-120"/>
              </a:rPr>
              <a:t>이해당사자의 고충 및 니즈</a:t>
            </a:r>
            <a:endParaRPr lang="en-US" sz="480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0" name="Shape 1">
            <a:extLst>
              <a:ext uri="{FF2B5EF4-FFF2-40B4-BE49-F238E27FC236}">
                <a16:creationId xmlns:a16="http://schemas.microsoft.com/office/drawing/2014/main" id="{55F725EB-B277-D7F4-1288-CF52540EF326}"/>
              </a:ext>
            </a:extLst>
          </p:cNvPr>
          <p:cNvSpPr/>
          <p:nvPr/>
        </p:nvSpPr>
        <p:spPr>
          <a:xfrm>
            <a:off x="793790" y="3456620"/>
            <a:ext cx="6407944" cy="2022279"/>
          </a:xfrm>
          <a:prstGeom prst="roundRect">
            <a:avLst>
              <a:gd name="adj" fmla="val 1884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1" name="Text 2">
            <a:extLst>
              <a:ext uri="{FF2B5EF4-FFF2-40B4-BE49-F238E27FC236}">
                <a16:creationId xmlns:a16="http://schemas.microsoft.com/office/drawing/2014/main" id="{0D9DBE1F-CA68-404E-A53F-9D6D452CDDC3}"/>
              </a:ext>
            </a:extLst>
          </p:cNvPr>
          <p:cNvSpPr/>
          <p:nvPr/>
        </p:nvSpPr>
        <p:spPr>
          <a:xfrm>
            <a:off x="1020604" y="3698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ko-KR" altLang="en-US" sz="2400" b="1" dirty="0">
                <a:solidFill>
                  <a:srgbClr val="4A4A45"/>
                </a:solidFill>
                <a:latin typeface="프리젠테이션 6 SemiBold" pitchFamily="2" charset="-127"/>
                <a:ea typeface="프리젠테이션 6 SemiBold" pitchFamily="2" charset="-127"/>
                <a:cs typeface="Lato Bold" pitchFamily="34" charset="-120"/>
              </a:rPr>
              <a:t>일반 사용자</a:t>
            </a:r>
            <a:endParaRPr lang="en-US" sz="24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2" name="Text 3">
            <a:extLst>
              <a:ext uri="{FF2B5EF4-FFF2-40B4-BE49-F238E27FC236}">
                <a16:creationId xmlns:a16="http://schemas.microsoft.com/office/drawing/2014/main" id="{559BDE36-6DAB-8570-2CE1-BB07BA4506C5}"/>
              </a:ext>
            </a:extLst>
          </p:cNvPr>
          <p:cNvSpPr/>
          <p:nvPr/>
        </p:nvSpPr>
        <p:spPr>
          <a:xfrm>
            <a:off x="1020604" y="4189095"/>
            <a:ext cx="5954316" cy="12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50"/>
              </a:lnSpc>
            </a:pPr>
            <a:r>
              <a:rPr lang="ko-KR" altLang="en-US" sz="1750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기존 </a:t>
            </a:r>
            <a:r>
              <a:rPr lang="en-US" altLang="ko-KR" sz="1750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2D </a:t>
            </a:r>
            <a:r>
              <a:rPr lang="ko-KR" altLang="en-US" sz="1750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지도에서는 공간의 입체적인 구조 파악 어려움</a:t>
            </a:r>
            <a:endParaRPr lang="en-US" altLang="ko-KR" sz="1750" dirty="0">
              <a:solidFill>
                <a:srgbClr val="4A4A45"/>
              </a:solidFill>
              <a:latin typeface="프리젠테이션 4 Regular" pitchFamily="2" charset="-127"/>
              <a:ea typeface="프리젠테이션 4 Regular" pitchFamily="2" charset="-127"/>
              <a:cs typeface="Lato" pitchFamily="34" charset="-120"/>
            </a:endParaRPr>
          </a:p>
          <a:p>
            <a:pPr algn="l">
              <a:lnSpc>
                <a:spcPts val="2850"/>
              </a:lnSpc>
            </a:pPr>
            <a:r>
              <a:rPr lang="ko-KR" altLang="en-US" sz="1750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건물 규모나 주변 환경에 대한 </a:t>
            </a:r>
            <a:r>
              <a:rPr lang="ko-KR" altLang="en-US" sz="1750" dirty="0" err="1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직관성</a:t>
            </a:r>
            <a:r>
              <a:rPr lang="ko-KR" altLang="en-US" sz="1750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 부족</a:t>
            </a:r>
            <a:endParaRPr lang="en-US" altLang="ko-KR" sz="1750" dirty="0">
              <a:solidFill>
                <a:srgbClr val="4A4A45"/>
              </a:solidFill>
              <a:latin typeface="프리젠테이션 4 Regular" pitchFamily="2" charset="-127"/>
              <a:ea typeface="프리젠테이션 4 Regular" pitchFamily="2" charset="-127"/>
              <a:cs typeface="Lato" pitchFamily="34" charset="-120"/>
            </a:endParaRPr>
          </a:p>
          <a:p>
            <a:pPr algn="l">
              <a:lnSpc>
                <a:spcPts val="2850"/>
              </a:lnSpc>
            </a:pPr>
            <a:r>
              <a:rPr lang="ko-KR" altLang="en-US" sz="1750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현실 공간과 유사한 직관적인 지도 필요</a:t>
            </a:r>
            <a:endParaRPr lang="en-US" sz="175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3" name="Shape 1">
            <a:extLst>
              <a:ext uri="{FF2B5EF4-FFF2-40B4-BE49-F238E27FC236}">
                <a16:creationId xmlns:a16="http://schemas.microsoft.com/office/drawing/2014/main" id="{3EADA62D-51EF-01D6-C8D4-E049D60F3D03}"/>
              </a:ext>
            </a:extLst>
          </p:cNvPr>
          <p:cNvSpPr/>
          <p:nvPr/>
        </p:nvSpPr>
        <p:spPr>
          <a:xfrm>
            <a:off x="7428666" y="3456620"/>
            <a:ext cx="6407944" cy="2022279"/>
          </a:xfrm>
          <a:prstGeom prst="roundRect">
            <a:avLst>
              <a:gd name="adj" fmla="val 1884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4" name="Text 2">
            <a:extLst>
              <a:ext uri="{FF2B5EF4-FFF2-40B4-BE49-F238E27FC236}">
                <a16:creationId xmlns:a16="http://schemas.microsoft.com/office/drawing/2014/main" id="{5ACE84E9-E3E5-F31C-02C7-FB789A5E4670}"/>
              </a:ext>
            </a:extLst>
          </p:cNvPr>
          <p:cNvSpPr/>
          <p:nvPr/>
        </p:nvSpPr>
        <p:spPr>
          <a:xfrm>
            <a:off x="7655480" y="3698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ko-KR" altLang="en-US" sz="2400" b="1" dirty="0">
                <a:solidFill>
                  <a:srgbClr val="4A4A45"/>
                </a:solidFill>
                <a:latin typeface="프리젠테이션 6 SemiBold" pitchFamily="2" charset="-127"/>
                <a:ea typeface="프리젠테이션 6 SemiBold" pitchFamily="2" charset="-127"/>
              </a:rPr>
              <a:t>데이터 관리 및 제공자</a:t>
            </a:r>
            <a:endParaRPr lang="en-US" sz="24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5" name="Text 3">
            <a:extLst>
              <a:ext uri="{FF2B5EF4-FFF2-40B4-BE49-F238E27FC236}">
                <a16:creationId xmlns:a16="http://schemas.microsoft.com/office/drawing/2014/main" id="{A330B7B2-CE15-FA5F-7ED0-B81C8ADB1FA7}"/>
              </a:ext>
            </a:extLst>
          </p:cNvPr>
          <p:cNvSpPr/>
          <p:nvPr/>
        </p:nvSpPr>
        <p:spPr>
          <a:xfrm>
            <a:off x="7655480" y="4189095"/>
            <a:ext cx="5954316" cy="12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>
              <a:lnSpc>
                <a:spcPts val="2850"/>
              </a:lnSpc>
            </a:pPr>
            <a:r>
              <a:rPr lang="ko-KR" altLang="en-US" sz="1750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여러 종류의 공간 데이터를 하나의 </a:t>
            </a:r>
            <a:r>
              <a:rPr lang="en-US" altLang="ko-KR" sz="1750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3D </a:t>
            </a:r>
            <a:r>
              <a:rPr lang="ko-KR" altLang="en-US" sz="1750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공간에 통합하기 어려움</a:t>
            </a:r>
            <a:endParaRPr lang="en-US" altLang="ko-KR" sz="1750" dirty="0">
              <a:solidFill>
                <a:srgbClr val="4A4A45"/>
              </a:solidFill>
              <a:latin typeface="프리젠테이션 4 Regular" pitchFamily="2" charset="-127"/>
              <a:ea typeface="프리젠테이션 4 Regular" pitchFamily="2" charset="-127"/>
              <a:cs typeface="Lato" pitchFamily="34" charset="-120"/>
            </a:endParaRPr>
          </a:p>
          <a:p>
            <a:pPr algn="l">
              <a:lnSpc>
                <a:spcPts val="2850"/>
              </a:lnSpc>
            </a:pPr>
            <a:r>
              <a:rPr lang="ko-KR" altLang="en-US" sz="1750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데이터 변환 및 처리 과정에 많은 시간과 비용이 소요됨</a:t>
            </a:r>
            <a:endParaRPr lang="en-US" altLang="ko-KR" sz="1750" dirty="0">
              <a:solidFill>
                <a:srgbClr val="4A4A45"/>
              </a:solidFill>
              <a:latin typeface="프리젠테이션 4 Regular" pitchFamily="2" charset="-127"/>
              <a:ea typeface="프리젠테이션 4 Regular" pitchFamily="2" charset="-127"/>
              <a:cs typeface="Lato" pitchFamily="34" charset="-120"/>
            </a:endParaRPr>
          </a:p>
          <a:p>
            <a:pPr algn="l">
              <a:lnSpc>
                <a:spcPts val="2850"/>
              </a:lnSpc>
            </a:pPr>
            <a:r>
              <a:rPr lang="ko-KR" altLang="en-US" sz="1750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쉬운 확장성과 개발성을 가진 시스템 필요</a:t>
            </a:r>
            <a:endParaRPr lang="en-US" altLang="ko-KR" sz="1750" dirty="0">
              <a:solidFill>
                <a:srgbClr val="4A4A45"/>
              </a:solidFill>
              <a:latin typeface="프리젠테이션 4 Regular" pitchFamily="2" charset="-127"/>
              <a:ea typeface="프리젠테이션 4 Regular" pitchFamily="2" charset="-127"/>
              <a:cs typeface="Lato" pitchFamily="34" charset="-120"/>
            </a:endParaRPr>
          </a:p>
        </p:txBody>
      </p:sp>
      <p:sp>
        <p:nvSpPr>
          <p:cNvPr id="16" name="Shape 1">
            <a:extLst>
              <a:ext uri="{FF2B5EF4-FFF2-40B4-BE49-F238E27FC236}">
                <a16:creationId xmlns:a16="http://schemas.microsoft.com/office/drawing/2014/main" id="{6EF0B19B-A930-EB6A-D664-139CCCBAF4D3}"/>
              </a:ext>
            </a:extLst>
          </p:cNvPr>
          <p:cNvSpPr/>
          <p:nvPr/>
        </p:nvSpPr>
        <p:spPr>
          <a:xfrm>
            <a:off x="793790" y="5720955"/>
            <a:ext cx="13042820" cy="791643"/>
          </a:xfrm>
          <a:prstGeom prst="roundRect">
            <a:avLst>
              <a:gd name="adj" fmla="val 1884"/>
            </a:avLst>
          </a:prstGeom>
          <a:solidFill>
            <a:srgbClr val="DAD2C0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F439896-8267-B2B1-C196-1ADBB3805DC8}"/>
              </a:ext>
            </a:extLst>
          </p:cNvPr>
          <p:cNvSpPr txBox="1"/>
          <p:nvPr/>
        </p:nvSpPr>
        <p:spPr>
          <a:xfrm>
            <a:off x="1356539" y="5885943"/>
            <a:ext cx="116903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A3936"/>
                </a:solidFill>
                <a:latin typeface="프리젠테이션 6 SemiBold" pitchFamily="2" charset="-127"/>
                <a:ea typeface="프리젠테이션 6 SemiBold" pitchFamily="2" charset="-127"/>
              </a:rPr>
              <a:t>기존 </a:t>
            </a:r>
            <a:r>
              <a:rPr lang="en-US" altLang="ko-KR" sz="2400" dirty="0">
                <a:solidFill>
                  <a:srgbClr val="3A3936"/>
                </a:solidFill>
                <a:latin typeface="프리젠테이션 6 SemiBold" pitchFamily="2" charset="-127"/>
                <a:ea typeface="프리젠테이션 6 SemiBold" pitchFamily="2" charset="-127"/>
              </a:rPr>
              <a:t>2D </a:t>
            </a:r>
            <a:r>
              <a:rPr lang="ko-KR" altLang="en-US" sz="2400" dirty="0">
                <a:solidFill>
                  <a:srgbClr val="3A3936"/>
                </a:solidFill>
                <a:latin typeface="프리젠테이션 6 SemiBold" pitchFamily="2" charset="-127"/>
                <a:ea typeface="프리젠테이션 6 SemiBold" pitchFamily="2" charset="-127"/>
              </a:rPr>
              <a:t>지도 서비스는 공간 구조를 직관적으로 이해하기 어렵고 다양한 공간 데이터를 활용하는 데 한계가 있다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43E69B32-B2E3-06B7-7C09-C3AE7B003A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A7D384B0-6981-7742-F835-0C7EA41298B4}"/>
              </a:ext>
            </a:extLst>
          </p:cNvPr>
          <p:cNvSpPr/>
          <p:nvPr/>
        </p:nvSpPr>
        <p:spPr>
          <a:xfrm>
            <a:off x="793790" y="2073357"/>
            <a:ext cx="102597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b="1" dirty="0">
                <a:solidFill>
                  <a:srgbClr val="282824"/>
                </a:solidFill>
                <a:latin typeface="프리젠테이션 8 ExtraBold" pitchFamily="2" charset="-127"/>
                <a:ea typeface="프리젠테이션 8 ExtraBold" pitchFamily="2" charset="-127"/>
                <a:cs typeface="Lato Bold" pitchFamily="34" charset="-120"/>
              </a:rPr>
              <a:t>3. </a:t>
            </a:r>
            <a:r>
              <a:rPr lang="ko-KR" altLang="en-US" sz="4800" b="1" dirty="0">
                <a:solidFill>
                  <a:srgbClr val="282824"/>
                </a:solidFill>
                <a:latin typeface="프리젠테이션 8 ExtraBold" pitchFamily="2" charset="-127"/>
                <a:ea typeface="프리젠테이션 8 ExtraBold" pitchFamily="2" charset="-127"/>
                <a:cs typeface="Lato Bold" pitchFamily="34" charset="-120"/>
              </a:rPr>
              <a:t>이해당사자의 이유</a:t>
            </a:r>
            <a:endParaRPr lang="en-US" sz="480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3" name="Shape 1"/>
          <p:cNvSpPr/>
          <p:nvPr/>
        </p:nvSpPr>
        <p:spPr>
          <a:xfrm>
            <a:off x="915710" y="3186615"/>
            <a:ext cx="12388810" cy="1001322"/>
          </a:xfrm>
          <a:prstGeom prst="roundRect">
            <a:avLst>
              <a:gd name="adj" fmla="val 8453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885230" y="3186615"/>
            <a:ext cx="121920" cy="1001322"/>
          </a:xfrm>
          <a:prstGeom prst="roundRect">
            <a:avLst>
              <a:gd name="adj" fmla="val 27907"/>
            </a:avLst>
          </a:prstGeom>
          <a:solidFill>
            <a:srgbClr val="6357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4CED678-11BF-BEB0-0D93-544BD7FD20F4}"/>
              </a:ext>
            </a:extLst>
          </p:cNvPr>
          <p:cNvSpPr txBox="1"/>
          <p:nvPr/>
        </p:nvSpPr>
        <p:spPr>
          <a:xfrm>
            <a:off x="1188720" y="3468421"/>
            <a:ext cx="11422380" cy="3649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3A3936"/>
                </a:solidFill>
                <a:latin typeface="프리젠테이션 4 Regular" pitchFamily="2" charset="-127"/>
                <a:ea typeface="프리젠테이션 4 Regular" pitchFamily="2" charset="-127"/>
              </a:rPr>
              <a:t>실제 현실과 유사하게 공간 정보를 보다 직관적으로 이해하기 위해</a:t>
            </a:r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B9C19170-B474-7CDC-F292-E070B4E57A49}"/>
              </a:ext>
            </a:extLst>
          </p:cNvPr>
          <p:cNvSpPr/>
          <p:nvPr/>
        </p:nvSpPr>
        <p:spPr>
          <a:xfrm>
            <a:off x="915710" y="4312789"/>
            <a:ext cx="12388810" cy="1001322"/>
          </a:xfrm>
          <a:prstGeom prst="roundRect">
            <a:avLst>
              <a:gd name="adj" fmla="val 8453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2">
            <a:extLst>
              <a:ext uri="{FF2B5EF4-FFF2-40B4-BE49-F238E27FC236}">
                <a16:creationId xmlns:a16="http://schemas.microsoft.com/office/drawing/2014/main" id="{E2DFC379-F28E-EA4B-E019-D7D456008419}"/>
              </a:ext>
            </a:extLst>
          </p:cNvPr>
          <p:cNvSpPr/>
          <p:nvPr/>
        </p:nvSpPr>
        <p:spPr>
          <a:xfrm>
            <a:off x="885230" y="4312789"/>
            <a:ext cx="121920" cy="1001322"/>
          </a:xfrm>
          <a:prstGeom prst="roundRect">
            <a:avLst>
              <a:gd name="adj" fmla="val 27907"/>
            </a:avLst>
          </a:prstGeom>
          <a:solidFill>
            <a:srgbClr val="6357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F4067410-907E-87D1-CC35-2B25BD7E87B0}"/>
              </a:ext>
            </a:extLst>
          </p:cNvPr>
          <p:cNvSpPr txBox="1"/>
          <p:nvPr/>
        </p:nvSpPr>
        <p:spPr>
          <a:xfrm>
            <a:off x="1188720" y="4594595"/>
            <a:ext cx="11422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3A3936"/>
                </a:solidFill>
                <a:latin typeface="프리젠테이션 4 Regular" pitchFamily="2" charset="-127"/>
                <a:ea typeface="프리젠테이션 4 Regular" pitchFamily="2" charset="-127"/>
              </a:rPr>
              <a:t>다양한 공간 데이터의 효율적인 활용과 향후 편리한 확장성을 위해</a:t>
            </a:r>
          </a:p>
        </p:txBody>
      </p:sp>
      <p:sp>
        <p:nvSpPr>
          <p:cNvPr id="33" name="Shape 1">
            <a:extLst>
              <a:ext uri="{FF2B5EF4-FFF2-40B4-BE49-F238E27FC236}">
                <a16:creationId xmlns:a16="http://schemas.microsoft.com/office/drawing/2014/main" id="{7CEE88DB-A03B-969D-3CB0-806969C0CD2E}"/>
              </a:ext>
            </a:extLst>
          </p:cNvPr>
          <p:cNvSpPr/>
          <p:nvPr/>
        </p:nvSpPr>
        <p:spPr>
          <a:xfrm>
            <a:off x="915710" y="5438963"/>
            <a:ext cx="12388810" cy="1001322"/>
          </a:xfrm>
          <a:prstGeom prst="roundRect">
            <a:avLst>
              <a:gd name="adj" fmla="val 8453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4" name="Shape 2">
            <a:extLst>
              <a:ext uri="{FF2B5EF4-FFF2-40B4-BE49-F238E27FC236}">
                <a16:creationId xmlns:a16="http://schemas.microsoft.com/office/drawing/2014/main" id="{1E3EBADB-4BF8-6572-1BDF-3A6DCB1049AC}"/>
              </a:ext>
            </a:extLst>
          </p:cNvPr>
          <p:cNvSpPr/>
          <p:nvPr/>
        </p:nvSpPr>
        <p:spPr>
          <a:xfrm>
            <a:off x="885230" y="5438963"/>
            <a:ext cx="121920" cy="1001322"/>
          </a:xfrm>
          <a:prstGeom prst="roundRect">
            <a:avLst>
              <a:gd name="adj" fmla="val 27907"/>
            </a:avLst>
          </a:prstGeom>
          <a:solidFill>
            <a:srgbClr val="63573B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A07671E-E96C-C9EF-ED3F-1A265F6DA8DF}"/>
              </a:ext>
            </a:extLst>
          </p:cNvPr>
          <p:cNvSpPr txBox="1"/>
          <p:nvPr/>
        </p:nvSpPr>
        <p:spPr>
          <a:xfrm>
            <a:off x="1188720" y="5720769"/>
            <a:ext cx="114223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3A3936"/>
                </a:solidFill>
                <a:latin typeface="프리젠테이션 4 Regular" pitchFamily="2" charset="-127"/>
                <a:ea typeface="프리젠테이션 4 Regular" pitchFamily="2" charset="-127"/>
              </a:rPr>
              <a:t>게임 엔진 기반으로 안정적인 유지보수와 효율적인 설계를 위해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3C67AE-A05E-CE5E-0242-D1A710AD26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직사각형 14">
            <a:extLst>
              <a:ext uri="{FF2B5EF4-FFF2-40B4-BE49-F238E27FC236}">
                <a16:creationId xmlns:a16="http://schemas.microsoft.com/office/drawing/2014/main" id="{4FACE680-E4D8-5E22-0791-CC64B3A6F7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Text 0">
            <a:extLst>
              <a:ext uri="{FF2B5EF4-FFF2-40B4-BE49-F238E27FC236}">
                <a16:creationId xmlns:a16="http://schemas.microsoft.com/office/drawing/2014/main" id="{957FE40A-5011-96AF-ACCF-5CA6D26AA658}"/>
              </a:ext>
            </a:extLst>
          </p:cNvPr>
          <p:cNvSpPr/>
          <p:nvPr/>
        </p:nvSpPr>
        <p:spPr>
          <a:xfrm>
            <a:off x="793790" y="1814836"/>
            <a:ext cx="102597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b="1" dirty="0">
                <a:solidFill>
                  <a:srgbClr val="282824"/>
                </a:solidFill>
                <a:latin typeface="프리젠테이션 8 ExtraBold" pitchFamily="2" charset="-127"/>
                <a:ea typeface="프리젠테이션 8 ExtraBold" pitchFamily="2" charset="-127"/>
                <a:cs typeface="Lato Bold" pitchFamily="34" charset="-120"/>
              </a:rPr>
              <a:t>4. </a:t>
            </a:r>
            <a:r>
              <a:rPr lang="ko-KR" altLang="en-US" sz="4800" b="1" dirty="0">
                <a:solidFill>
                  <a:srgbClr val="282824"/>
                </a:solidFill>
                <a:latin typeface="프리젠테이션 8 ExtraBold" pitchFamily="2" charset="-127"/>
                <a:ea typeface="프리젠테이션 8 ExtraBold" pitchFamily="2" charset="-127"/>
                <a:cs typeface="Lato Bold" pitchFamily="34" charset="-120"/>
              </a:rPr>
              <a:t>프로젝트 수행자의 의도</a:t>
            </a:r>
            <a:endParaRPr lang="en-US" sz="480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011671D6-E9C2-7D4F-C61F-D23CCC13005C}"/>
              </a:ext>
            </a:extLst>
          </p:cNvPr>
          <p:cNvSpPr/>
          <p:nvPr/>
        </p:nvSpPr>
        <p:spPr>
          <a:xfrm>
            <a:off x="915710" y="2909232"/>
            <a:ext cx="12388810" cy="1205568"/>
          </a:xfrm>
          <a:prstGeom prst="roundRect">
            <a:avLst>
              <a:gd name="adj" fmla="val 8453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B68260AD-E6BF-2ACA-3559-D3494270478B}"/>
              </a:ext>
            </a:extLst>
          </p:cNvPr>
          <p:cNvSpPr/>
          <p:nvPr/>
        </p:nvSpPr>
        <p:spPr>
          <a:xfrm>
            <a:off x="885230" y="2909232"/>
            <a:ext cx="121920" cy="1205568"/>
          </a:xfrm>
          <a:prstGeom prst="roundRect">
            <a:avLst>
              <a:gd name="adj" fmla="val 27907"/>
            </a:avLst>
          </a:prstGeom>
          <a:solidFill>
            <a:srgbClr val="675A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B95CA26-EEA4-8869-A4AD-BC020F773E54}"/>
              </a:ext>
            </a:extLst>
          </p:cNvPr>
          <p:cNvSpPr txBox="1"/>
          <p:nvPr/>
        </p:nvSpPr>
        <p:spPr>
          <a:xfrm>
            <a:off x="1188720" y="3127295"/>
            <a:ext cx="114223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3A3936"/>
                </a:solidFill>
                <a:latin typeface="프리젠테이션 6 SemiBold" pitchFamily="2" charset="-127"/>
                <a:ea typeface="프리젠테이션 6 SemiBold" pitchFamily="2" charset="-127"/>
              </a:rPr>
              <a:t>게임 엔진 기반 </a:t>
            </a:r>
            <a:r>
              <a:rPr lang="en-US" altLang="ko-KR" sz="2400" dirty="0">
                <a:solidFill>
                  <a:srgbClr val="3A3936"/>
                </a:solidFill>
                <a:latin typeface="프리젠테이션 6 SemiBold" pitchFamily="2" charset="-127"/>
                <a:ea typeface="프리젠테이션 6 SemiBold" pitchFamily="2" charset="-127"/>
              </a:rPr>
              <a:t>3D</a:t>
            </a:r>
            <a:r>
              <a:rPr lang="ko-KR" altLang="en-US" sz="2400" dirty="0">
                <a:solidFill>
                  <a:srgbClr val="3A3936"/>
                </a:solidFill>
                <a:latin typeface="프리젠테이션 6 SemiBold" pitchFamily="2" charset="-127"/>
                <a:ea typeface="프리젠테이션 6 SemiBold" pitchFamily="2" charset="-127"/>
              </a:rPr>
              <a:t> 지도 시각화</a:t>
            </a:r>
            <a:endParaRPr lang="en-US" altLang="ko-KR" sz="2400" dirty="0">
              <a:solidFill>
                <a:srgbClr val="3A3936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r>
              <a:rPr lang="ko-KR" altLang="en-US" sz="2000">
                <a:solidFill>
                  <a:srgbClr val="3A3936"/>
                </a:solidFill>
                <a:latin typeface="프리젠테이션 3 Light" pitchFamily="2" charset="-127"/>
                <a:ea typeface="프리젠테이션 3 Light" pitchFamily="2" charset="-127"/>
              </a:rPr>
              <a:t>실시간 렌더링 </a:t>
            </a:r>
            <a:r>
              <a:rPr lang="ko-KR" altLang="en-US" sz="2000" dirty="0">
                <a:solidFill>
                  <a:srgbClr val="3A3936"/>
                </a:solidFill>
                <a:latin typeface="프리젠테이션 3 Light" pitchFamily="2" charset="-127"/>
                <a:ea typeface="프리젠테이션 3 Light" pitchFamily="2" charset="-127"/>
              </a:rPr>
              <a:t>성능이 뛰어난 게임 엔진을 활용하여 도시 공간을 현실과 유사한 형태로 시각화</a:t>
            </a:r>
          </a:p>
        </p:txBody>
      </p:sp>
      <p:sp>
        <p:nvSpPr>
          <p:cNvPr id="5" name="Shape 1">
            <a:extLst>
              <a:ext uri="{FF2B5EF4-FFF2-40B4-BE49-F238E27FC236}">
                <a16:creationId xmlns:a16="http://schemas.microsoft.com/office/drawing/2014/main" id="{CC5C7EF6-B822-415B-BEE3-4A1E753C5E61}"/>
              </a:ext>
            </a:extLst>
          </p:cNvPr>
          <p:cNvSpPr/>
          <p:nvPr/>
        </p:nvSpPr>
        <p:spPr>
          <a:xfrm>
            <a:off x="915710" y="4250139"/>
            <a:ext cx="12388810" cy="1205568"/>
          </a:xfrm>
          <a:prstGeom prst="roundRect">
            <a:avLst>
              <a:gd name="adj" fmla="val 8453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6EBED881-DF16-EF91-B458-61E7E61167A5}"/>
              </a:ext>
            </a:extLst>
          </p:cNvPr>
          <p:cNvSpPr/>
          <p:nvPr/>
        </p:nvSpPr>
        <p:spPr>
          <a:xfrm>
            <a:off x="885230" y="4250139"/>
            <a:ext cx="121920" cy="1205568"/>
          </a:xfrm>
          <a:prstGeom prst="roundRect">
            <a:avLst>
              <a:gd name="adj" fmla="val 27907"/>
            </a:avLst>
          </a:prstGeom>
          <a:solidFill>
            <a:srgbClr val="675A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A41E34E-64EC-A45D-CC5A-51955FC1402C}"/>
              </a:ext>
            </a:extLst>
          </p:cNvPr>
          <p:cNvSpPr txBox="1"/>
          <p:nvPr/>
        </p:nvSpPr>
        <p:spPr>
          <a:xfrm>
            <a:off x="1188720" y="4468202"/>
            <a:ext cx="114223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3A3936"/>
                </a:solidFill>
                <a:latin typeface="프리젠테이션 6 SemiBold" pitchFamily="2" charset="-127"/>
                <a:ea typeface="프리젠테이션 6 SemiBold" pitchFamily="2" charset="-127"/>
              </a:rPr>
              <a:t>직관적인 공간 탐색 환경 제공</a:t>
            </a:r>
            <a:endParaRPr lang="en-US" altLang="ko-KR" sz="2400" dirty="0">
              <a:solidFill>
                <a:srgbClr val="3A3936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r>
              <a:rPr lang="ko-KR" altLang="en-US" sz="2000" dirty="0">
                <a:solidFill>
                  <a:srgbClr val="3A3936"/>
                </a:solidFill>
                <a:latin typeface="프리젠테이션 3 Light" pitchFamily="2" charset="-127"/>
                <a:ea typeface="프리젠테이션 3 Light" pitchFamily="2" charset="-127"/>
              </a:rPr>
              <a:t>사용자가 도시 공간을 입체적이고 직관적으로 이해할 수 있는 지도를 제공</a:t>
            </a:r>
          </a:p>
        </p:txBody>
      </p:sp>
      <p:sp>
        <p:nvSpPr>
          <p:cNvPr id="36" name="Shape 1">
            <a:extLst>
              <a:ext uri="{FF2B5EF4-FFF2-40B4-BE49-F238E27FC236}">
                <a16:creationId xmlns:a16="http://schemas.microsoft.com/office/drawing/2014/main" id="{028F2BF2-295F-DB0E-784A-E5DBDF827504}"/>
              </a:ext>
            </a:extLst>
          </p:cNvPr>
          <p:cNvSpPr/>
          <p:nvPr/>
        </p:nvSpPr>
        <p:spPr>
          <a:xfrm>
            <a:off x="915710" y="5591046"/>
            <a:ext cx="12388810" cy="1205568"/>
          </a:xfrm>
          <a:prstGeom prst="roundRect">
            <a:avLst>
              <a:gd name="adj" fmla="val 8453"/>
            </a:avLst>
          </a:prstGeom>
          <a:solidFill>
            <a:srgbClr val="EFECE6"/>
          </a:solidFill>
          <a:ln w="30480">
            <a:solidFill>
              <a:srgbClr val="CBC5B8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2">
            <a:extLst>
              <a:ext uri="{FF2B5EF4-FFF2-40B4-BE49-F238E27FC236}">
                <a16:creationId xmlns:a16="http://schemas.microsoft.com/office/drawing/2014/main" id="{D62110D8-B890-E117-D52E-03ACDE8B321A}"/>
              </a:ext>
            </a:extLst>
          </p:cNvPr>
          <p:cNvSpPr/>
          <p:nvPr/>
        </p:nvSpPr>
        <p:spPr>
          <a:xfrm>
            <a:off x="885230" y="5591046"/>
            <a:ext cx="121920" cy="1205568"/>
          </a:xfrm>
          <a:prstGeom prst="roundRect">
            <a:avLst>
              <a:gd name="adj" fmla="val 27907"/>
            </a:avLst>
          </a:prstGeom>
          <a:solidFill>
            <a:srgbClr val="675A3D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F1886458-3BF9-61F0-FB4B-2A3A4870D433}"/>
              </a:ext>
            </a:extLst>
          </p:cNvPr>
          <p:cNvSpPr txBox="1"/>
          <p:nvPr/>
        </p:nvSpPr>
        <p:spPr>
          <a:xfrm>
            <a:off x="1188720" y="5809109"/>
            <a:ext cx="1142238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400" dirty="0">
                <a:solidFill>
                  <a:srgbClr val="3A3936"/>
                </a:solidFill>
                <a:latin typeface="프리젠테이션 6 SemiBold" pitchFamily="2" charset="-127"/>
                <a:ea typeface="프리젠테이션 6 SemiBold" pitchFamily="2" charset="-127"/>
              </a:rPr>
              <a:t>지리 공간 데이터 활용 및 디지털 트윈 가능성 탐색</a:t>
            </a:r>
            <a:endParaRPr lang="en-US" altLang="ko-KR" sz="2400" dirty="0">
              <a:solidFill>
                <a:srgbClr val="3A3936"/>
              </a:solidFill>
              <a:latin typeface="프리젠테이션 6 SemiBold" pitchFamily="2" charset="-127"/>
              <a:ea typeface="프리젠테이션 6 SemiBold" pitchFamily="2" charset="-127"/>
            </a:endParaRPr>
          </a:p>
          <a:p>
            <a:r>
              <a:rPr lang="ko-KR" altLang="en-US" sz="2000" dirty="0">
                <a:solidFill>
                  <a:srgbClr val="3A3936"/>
                </a:solidFill>
                <a:latin typeface="프리젠테이션 3 Light" pitchFamily="2" charset="-127"/>
                <a:ea typeface="프리젠테이션 3 Light" pitchFamily="2" charset="-127"/>
              </a:rPr>
              <a:t>실제 국내 공간 데이터를 활용하여 확장 가능한 디지털 트윈을 구현</a:t>
            </a:r>
          </a:p>
        </p:txBody>
      </p:sp>
    </p:spTree>
    <p:extLst>
      <p:ext uri="{BB962C8B-B14F-4D97-AF65-F5344CB8AC3E}">
        <p14:creationId xmlns:p14="http://schemas.microsoft.com/office/powerpoint/2010/main" val="29434672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28E4051C-FB65-7BC1-D818-CA97CCAC912D}"/>
              </a:ext>
            </a:extLst>
          </p:cNvPr>
          <p:cNvSpPr>
            <a:spLocks/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 0">
            <a:extLst>
              <a:ext uri="{FF2B5EF4-FFF2-40B4-BE49-F238E27FC236}">
                <a16:creationId xmlns:a16="http://schemas.microsoft.com/office/drawing/2014/main" id="{4438A782-0331-1311-00A9-AAF0B7F10AC3}"/>
              </a:ext>
            </a:extLst>
          </p:cNvPr>
          <p:cNvSpPr/>
          <p:nvPr/>
        </p:nvSpPr>
        <p:spPr>
          <a:xfrm>
            <a:off x="793790" y="2269270"/>
            <a:ext cx="102597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b="1" dirty="0">
                <a:solidFill>
                  <a:srgbClr val="282824"/>
                </a:solidFill>
                <a:latin typeface="프리젠테이션 8 ExtraBold" pitchFamily="2" charset="-127"/>
                <a:ea typeface="프리젠테이션 8 ExtraBold" pitchFamily="2" charset="-127"/>
                <a:cs typeface="Lato Bold" pitchFamily="34" charset="-120"/>
              </a:rPr>
              <a:t>5. </a:t>
            </a:r>
            <a:r>
              <a:rPr lang="ko-KR" altLang="en-US" sz="4800" b="1" dirty="0">
                <a:solidFill>
                  <a:srgbClr val="282824"/>
                </a:solidFill>
                <a:latin typeface="프리젠테이션 8 ExtraBold" pitchFamily="2" charset="-127"/>
                <a:ea typeface="프리젠테이션 8 ExtraBold" pitchFamily="2" charset="-127"/>
                <a:cs typeface="Lato Bold" pitchFamily="34" charset="-120"/>
              </a:rPr>
              <a:t>탐구 내용 및 기대 결과</a:t>
            </a:r>
            <a:endParaRPr lang="en-US" sz="480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15" name="Shape 1">
            <a:extLst>
              <a:ext uri="{FF2B5EF4-FFF2-40B4-BE49-F238E27FC236}">
                <a16:creationId xmlns:a16="http://schemas.microsoft.com/office/drawing/2014/main" id="{DE66237D-44D6-0D30-6020-083CB62EACCC}"/>
              </a:ext>
            </a:extLst>
          </p:cNvPr>
          <p:cNvSpPr/>
          <p:nvPr/>
        </p:nvSpPr>
        <p:spPr>
          <a:xfrm>
            <a:off x="793790" y="3456620"/>
            <a:ext cx="6407944" cy="2022279"/>
          </a:xfrm>
          <a:prstGeom prst="roundRect">
            <a:avLst>
              <a:gd name="adj" fmla="val 1884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2">
            <a:extLst>
              <a:ext uri="{FF2B5EF4-FFF2-40B4-BE49-F238E27FC236}">
                <a16:creationId xmlns:a16="http://schemas.microsoft.com/office/drawing/2014/main" id="{F2B6D06A-F467-EF31-C2D9-999F43F5B972}"/>
              </a:ext>
            </a:extLst>
          </p:cNvPr>
          <p:cNvSpPr/>
          <p:nvPr/>
        </p:nvSpPr>
        <p:spPr>
          <a:xfrm>
            <a:off x="1020604" y="3698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ko-KR" altLang="en-US" sz="2400" b="1" dirty="0">
                <a:solidFill>
                  <a:srgbClr val="4A4A45"/>
                </a:solidFill>
                <a:latin typeface="프리젠테이션 6 SemiBold" pitchFamily="2" charset="-127"/>
                <a:ea typeface="프리젠테이션 6 SemiBold" pitchFamily="2" charset="-127"/>
              </a:rPr>
              <a:t>탐구 내용</a:t>
            </a:r>
            <a:endParaRPr lang="en-US" sz="24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D7F91DB9-9697-869A-0740-629949D26418}"/>
              </a:ext>
            </a:extLst>
          </p:cNvPr>
          <p:cNvSpPr/>
          <p:nvPr/>
        </p:nvSpPr>
        <p:spPr>
          <a:xfrm>
            <a:off x="1020604" y="4189095"/>
            <a:ext cx="5954316" cy="12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ko-KR" altLang="en-US" sz="1750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수치지도</a:t>
            </a:r>
            <a:r>
              <a:rPr lang="en-US" altLang="ko-KR" sz="1750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, V-world</a:t>
            </a:r>
            <a:r>
              <a:rPr lang="ko-KR" altLang="en-US" sz="1750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 등 기존의 다양한 국내 공간 데이터 포맷 분석</a:t>
            </a:r>
            <a:endParaRPr lang="en-US" altLang="ko-KR" sz="1750" dirty="0">
              <a:solidFill>
                <a:srgbClr val="4A4A45"/>
              </a:solidFill>
              <a:latin typeface="프리젠테이션 4 Regular" pitchFamily="2" charset="-127"/>
              <a:ea typeface="프리젠테이션 4 Regular" pitchFamily="2" charset="-127"/>
              <a:cs typeface="Lato" pitchFamily="34" charset="-120"/>
            </a:endParaRP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ko-KR" altLang="en-US" sz="1750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게임 엔진에서 활용할 수 있도록 데이터 변환 및 최적화 프로세스 연구</a:t>
            </a:r>
            <a:endParaRPr lang="en-US" altLang="ko-KR" sz="1750" dirty="0">
              <a:solidFill>
                <a:srgbClr val="4A4A45"/>
              </a:solidFill>
              <a:latin typeface="프리젠테이션 4 Regular" pitchFamily="2" charset="-127"/>
              <a:ea typeface="프리젠테이션 4 Regular" pitchFamily="2" charset="-127"/>
              <a:cs typeface="Lato" pitchFamily="34" charset="-120"/>
            </a:endParaRP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ko-KR" altLang="en-US" sz="1750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국내 주요 지역 데이터를 활용한 게임엔진 기반 </a:t>
            </a:r>
            <a:r>
              <a:rPr lang="en-US" altLang="ko-KR" sz="1750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3D </a:t>
            </a:r>
            <a:r>
              <a:rPr lang="ko-KR" altLang="en-US" sz="1750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지도 프로토타입 구현</a:t>
            </a:r>
            <a:endParaRPr lang="en-US" sz="175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18" name="Shape 1">
            <a:extLst>
              <a:ext uri="{FF2B5EF4-FFF2-40B4-BE49-F238E27FC236}">
                <a16:creationId xmlns:a16="http://schemas.microsoft.com/office/drawing/2014/main" id="{A16689CB-5E5D-5CC5-61F8-DFD445E5CF3F}"/>
              </a:ext>
            </a:extLst>
          </p:cNvPr>
          <p:cNvSpPr/>
          <p:nvPr/>
        </p:nvSpPr>
        <p:spPr>
          <a:xfrm>
            <a:off x="7428666" y="3456620"/>
            <a:ext cx="6407944" cy="2022279"/>
          </a:xfrm>
          <a:prstGeom prst="roundRect">
            <a:avLst>
              <a:gd name="adj" fmla="val 1884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2">
            <a:extLst>
              <a:ext uri="{FF2B5EF4-FFF2-40B4-BE49-F238E27FC236}">
                <a16:creationId xmlns:a16="http://schemas.microsoft.com/office/drawing/2014/main" id="{B97639A2-4879-CAE2-4467-8CFD4D28A373}"/>
              </a:ext>
            </a:extLst>
          </p:cNvPr>
          <p:cNvSpPr/>
          <p:nvPr/>
        </p:nvSpPr>
        <p:spPr>
          <a:xfrm>
            <a:off x="7655480" y="3698676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ko-KR" altLang="en-US" sz="2400" b="1" dirty="0">
                <a:solidFill>
                  <a:srgbClr val="4A4A45"/>
                </a:solidFill>
                <a:latin typeface="프리젠테이션 6 SemiBold" pitchFamily="2" charset="-127"/>
                <a:ea typeface="프리젠테이션 6 SemiBold" pitchFamily="2" charset="-127"/>
              </a:rPr>
              <a:t>기대 결과</a:t>
            </a:r>
            <a:endParaRPr lang="en-US" sz="2400" dirty="0">
              <a:latin typeface="프리젠테이션 6 SemiBold" pitchFamily="2" charset="-127"/>
              <a:ea typeface="프리젠테이션 6 SemiBold" pitchFamily="2" charset="-127"/>
            </a:endParaRPr>
          </a:p>
        </p:txBody>
      </p:sp>
      <p:sp>
        <p:nvSpPr>
          <p:cNvPr id="21" name="Text 3">
            <a:extLst>
              <a:ext uri="{FF2B5EF4-FFF2-40B4-BE49-F238E27FC236}">
                <a16:creationId xmlns:a16="http://schemas.microsoft.com/office/drawing/2014/main" id="{09D21877-E952-FA32-1FBE-F6BDEDB314F0}"/>
              </a:ext>
            </a:extLst>
          </p:cNvPr>
          <p:cNvSpPr/>
          <p:nvPr/>
        </p:nvSpPr>
        <p:spPr>
          <a:xfrm>
            <a:off x="7655480" y="4189095"/>
            <a:ext cx="5954316" cy="12898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ko-KR" altLang="en-US" sz="1750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데이터 변환 시간 분석을 통한 프로세스 효율성 개선 및 평가</a:t>
            </a:r>
            <a:endParaRPr lang="en-US" altLang="ko-KR" sz="1750" dirty="0">
              <a:solidFill>
                <a:srgbClr val="4A4A45"/>
              </a:solidFill>
              <a:latin typeface="프리젠테이션 4 Regular" pitchFamily="2" charset="-127"/>
              <a:ea typeface="프리젠테이션 4 Regular" pitchFamily="2" charset="-127"/>
              <a:cs typeface="Lato" pitchFamily="34" charset="-120"/>
            </a:endParaRP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ko-KR" altLang="en-US" sz="1750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사용자 테스트를 통한 조작 편의성 및 시각적 만족도 평가</a:t>
            </a:r>
            <a:endParaRPr lang="en-US" altLang="ko-KR" sz="1750" dirty="0">
              <a:solidFill>
                <a:srgbClr val="4A4A45"/>
              </a:solidFill>
              <a:latin typeface="프리젠테이션 4 Regular" pitchFamily="2" charset="-127"/>
              <a:ea typeface="프리젠테이션 4 Regular" pitchFamily="2" charset="-127"/>
              <a:cs typeface="Lato" pitchFamily="34" charset="-120"/>
            </a:endParaRPr>
          </a:p>
          <a:p>
            <a:pPr marL="285750" indent="-285750" algn="l">
              <a:lnSpc>
                <a:spcPts val="2850"/>
              </a:lnSpc>
              <a:buFont typeface="Arial" panose="020B0604020202020204" pitchFamily="34" charset="0"/>
              <a:buChar char="•"/>
            </a:pPr>
            <a:r>
              <a:rPr lang="ko-KR" altLang="en-US" sz="1750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공간 정보 시각화 및 디지털 트윈 분야로 확장 가능한 기술 기반 확보</a:t>
            </a:r>
            <a:endParaRPr lang="en-US" sz="1750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직사각형 23">
            <a:extLst>
              <a:ext uri="{FF2B5EF4-FFF2-40B4-BE49-F238E27FC236}">
                <a16:creationId xmlns:a16="http://schemas.microsoft.com/office/drawing/2014/main" id="{43574DBF-ABC4-63A4-1475-1DA6FE095F07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Text 0">
            <a:extLst>
              <a:ext uri="{FF2B5EF4-FFF2-40B4-BE49-F238E27FC236}">
                <a16:creationId xmlns:a16="http://schemas.microsoft.com/office/drawing/2014/main" id="{0A1B0528-3739-E395-5AFA-3B28B6A06A52}"/>
              </a:ext>
            </a:extLst>
          </p:cNvPr>
          <p:cNvSpPr/>
          <p:nvPr/>
        </p:nvSpPr>
        <p:spPr>
          <a:xfrm>
            <a:off x="793790" y="1106686"/>
            <a:ext cx="102597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b="1" dirty="0">
                <a:solidFill>
                  <a:srgbClr val="282824"/>
                </a:solidFill>
                <a:latin typeface="프리젠테이션 8 ExtraBold" pitchFamily="2" charset="-127"/>
                <a:ea typeface="프리젠테이션 8 ExtraBold" pitchFamily="2" charset="-127"/>
                <a:cs typeface="Lato Bold" pitchFamily="34" charset="-120"/>
              </a:rPr>
              <a:t>6. </a:t>
            </a:r>
            <a:r>
              <a:rPr lang="ko-KR" altLang="en-US" sz="4800" b="1" dirty="0">
                <a:solidFill>
                  <a:srgbClr val="282824"/>
                </a:solidFill>
                <a:latin typeface="프리젠테이션 8 ExtraBold" pitchFamily="2" charset="-127"/>
                <a:ea typeface="프리젠테이션 8 ExtraBold" pitchFamily="2" charset="-127"/>
                <a:cs typeface="Lato Bold" pitchFamily="34" charset="-120"/>
              </a:rPr>
              <a:t>프로젝트 관련 학습 계획</a:t>
            </a:r>
            <a:endParaRPr lang="en-US" sz="480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FC9F3B3A-C500-E93B-D97E-AB2D3A39CEDA}"/>
              </a:ext>
            </a:extLst>
          </p:cNvPr>
          <p:cNvSpPr/>
          <p:nvPr/>
        </p:nvSpPr>
        <p:spPr>
          <a:xfrm>
            <a:off x="1822907" y="2449159"/>
            <a:ext cx="4684573" cy="2022279"/>
          </a:xfrm>
          <a:prstGeom prst="roundRect">
            <a:avLst>
              <a:gd name="adj" fmla="val 1884"/>
            </a:avLst>
          </a:prstGeom>
          <a:solidFill>
            <a:srgbClr val="E3DDCF"/>
          </a:solidFill>
          <a:ln/>
        </p:spPr>
        <p:txBody>
          <a:bodyPr/>
          <a:lstStyle/>
          <a:p>
            <a:endParaRPr lang="ko-KR" altLang="en-US" dirty="0"/>
          </a:p>
        </p:txBody>
      </p:sp>
      <p:sp>
        <p:nvSpPr>
          <p:cNvPr id="30" name="Shape 1">
            <a:extLst>
              <a:ext uri="{FF2B5EF4-FFF2-40B4-BE49-F238E27FC236}">
                <a16:creationId xmlns:a16="http://schemas.microsoft.com/office/drawing/2014/main" id="{E0E45A3A-5BEE-1AD9-521C-7AA0AD9F930C}"/>
              </a:ext>
            </a:extLst>
          </p:cNvPr>
          <p:cNvSpPr/>
          <p:nvPr/>
        </p:nvSpPr>
        <p:spPr>
          <a:xfrm>
            <a:off x="7576007" y="2449159"/>
            <a:ext cx="4684573" cy="2022279"/>
          </a:xfrm>
          <a:prstGeom prst="roundRect">
            <a:avLst>
              <a:gd name="adj" fmla="val 1884"/>
            </a:avLst>
          </a:prstGeom>
          <a:solidFill>
            <a:srgbClr val="E3DD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Shape 1">
            <a:extLst>
              <a:ext uri="{FF2B5EF4-FFF2-40B4-BE49-F238E27FC236}">
                <a16:creationId xmlns:a16="http://schemas.microsoft.com/office/drawing/2014/main" id="{507CE580-C56A-FF7A-C33A-897D2D0333D2}"/>
              </a:ext>
            </a:extLst>
          </p:cNvPr>
          <p:cNvSpPr/>
          <p:nvPr/>
        </p:nvSpPr>
        <p:spPr>
          <a:xfrm>
            <a:off x="1822907" y="5213649"/>
            <a:ext cx="4684573" cy="2022279"/>
          </a:xfrm>
          <a:prstGeom prst="roundRect">
            <a:avLst>
              <a:gd name="adj" fmla="val 1884"/>
            </a:avLst>
          </a:prstGeom>
          <a:solidFill>
            <a:srgbClr val="E3DD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Shape 1">
            <a:extLst>
              <a:ext uri="{FF2B5EF4-FFF2-40B4-BE49-F238E27FC236}">
                <a16:creationId xmlns:a16="http://schemas.microsoft.com/office/drawing/2014/main" id="{1AC6107B-D17B-71A2-934C-E6241FB61B2D}"/>
              </a:ext>
            </a:extLst>
          </p:cNvPr>
          <p:cNvSpPr/>
          <p:nvPr/>
        </p:nvSpPr>
        <p:spPr>
          <a:xfrm>
            <a:off x="7576007" y="5213649"/>
            <a:ext cx="4684573" cy="2022279"/>
          </a:xfrm>
          <a:prstGeom prst="roundRect">
            <a:avLst>
              <a:gd name="adj" fmla="val 1884"/>
            </a:avLst>
          </a:prstGeom>
          <a:solidFill>
            <a:srgbClr val="E3DDCF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B687361-3438-F767-09FF-55899835E381}"/>
              </a:ext>
            </a:extLst>
          </p:cNvPr>
          <p:cNvSpPr txBox="1"/>
          <p:nvPr/>
        </p:nvSpPr>
        <p:spPr>
          <a:xfrm>
            <a:off x="2214473" y="3223175"/>
            <a:ext cx="3611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400" dirty="0">
                <a:solidFill>
                  <a:srgbClr val="3A3936"/>
                </a:solidFill>
                <a:latin typeface="프리젠테이션 4 Regular" pitchFamily="2" charset="-127"/>
                <a:ea typeface="프리젠테이션 4 Regular" pitchFamily="2" charset="-127"/>
              </a:rPr>
              <a:t>게임 엔진 기초 및 기반 언어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0F34EAB-A9A1-899D-60B8-8D33CCC0CEC9}"/>
              </a:ext>
            </a:extLst>
          </p:cNvPr>
          <p:cNvSpPr txBox="1"/>
          <p:nvPr/>
        </p:nvSpPr>
        <p:spPr>
          <a:xfrm>
            <a:off x="8112353" y="3283724"/>
            <a:ext cx="3611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rgbClr val="3A3936"/>
                </a:solidFill>
                <a:latin typeface="프리젠테이션 4 Regular" pitchFamily="2" charset="-127"/>
                <a:ea typeface="프리젠테이션 4 Regular" pitchFamily="2" charset="-127"/>
              </a:rPr>
              <a:t>Cesium </a:t>
            </a:r>
            <a:r>
              <a:rPr lang="ko-KR" altLang="en-US" sz="2400" dirty="0">
                <a:solidFill>
                  <a:srgbClr val="3A3936"/>
                </a:solidFill>
                <a:latin typeface="프리젠테이션 4 Regular" pitchFamily="2" charset="-127"/>
                <a:ea typeface="프리젠테이션 4 Regular" pitchFamily="2" charset="-127"/>
              </a:rPr>
              <a:t>및 </a:t>
            </a:r>
            <a:r>
              <a:rPr lang="en-US" altLang="ko-KR" sz="2400" dirty="0">
                <a:solidFill>
                  <a:srgbClr val="3A3936"/>
                </a:solidFill>
                <a:latin typeface="프리젠테이션 4 Regular" pitchFamily="2" charset="-127"/>
                <a:ea typeface="프리젠테이션 4 Regular" pitchFamily="2" charset="-127"/>
              </a:rPr>
              <a:t>GIS</a:t>
            </a:r>
            <a:endParaRPr lang="ko-KR" altLang="en-US" sz="2400" dirty="0">
              <a:solidFill>
                <a:srgbClr val="3A3936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9CECC8A8-BD08-9446-BE86-4DCEA03F8998}"/>
              </a:ext>
            </a:extLst>
          </p:cNvPr>
          <p:cNvSpPr txBox="1"/>
          <p:nvPr/>
        </p:nvSpPr>
        <p:spPr>
          <a:xfrm>
            <a:off x="8112353" y="5993955"/>
            <a:ext cx="3611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rgbClr val="3A3936"/>
                </a:solidFill>
                <a:latin typeface="프리젠테이션 4 Regular" pitchFamily="2" charset="-127"/>
                <a:ea typeface="프리젠테이션 4 Regular" pitchFamily="2" charset="-127"/>
              </a:rPr>
              <a:t>UI/UX </a:t>
            </a:r>
            <a:r>
              <a:rPr lang="ko-KR" altLang="en-US" sz="2400" dirty="0">
                <a:solidFill>
                  <a:srgbClr val="3A3936"/>
                </a:solidFill>
                <a:latin typeface="프리젠테이션 4 Regular" pitchFamily="2" charset="-127"/>
                <a:ea typeface="프리젠테이션 4 Regular" pitchFamily="2" charset="-127"/>
              </a:rPr>
              <a:t>및 시스템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1D0D51A-4723-65D8-C4AF-96B02ECE6594}"/>
              </a:ext>
            </a:extLst>
          </p:cNvPr>
          <p:cNvSpPr txBox="1"/>
          <p:nvPr/>
        </p:nvSpPr>
        <p:spPr>
          <a:xfrm>
            <a:off x="2214473" y="5993955"/>
            <a:ext cx="36118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400" dirty="0">
                <a:solidFill>
                  <a:srgbClr val="3A3936"/>
                </a:solidFill>
                <a:latin typeface="프리젠테이션 4 Regular" pitchFamily="2" charset="-127"/>
                <a:ea typeface="프리젠테이션 4 Regular" pitchFamily="2" charset="-127"/>
              </a:rPr>
              <a:t>3D </a:t>
            </a:r>
            <a:r>
              <a:rPr lang="ko-KR" altLang="en-US" sz="2400" dirty="0">
                <a:solidFill>
                  <a:srgbClr val="3A3936"/>
                </a:solidFill>
                <a:latin typeface="프리젠테이션 4 Regular" pitchFamily="2" charset="-127"/>
                <a:ea typeface="프리젠테이션 4 Regular" pitchFamily="2" charset="-127"/>
              </a:rPr>
              <a:t>데이터 최적화 및 렌더링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직사각형 19">
            <a:extLst>
              <a:ext uri="{FF2B5EF4-FFF2-40B4-BE49-F238E27FC236}">
                <a16:creationId xmlns:a16="http://schemas.microsoft.com/office/drawing/2014/main" id="{C56C837A-1E84-5A16-D30B-B7AA5DF7ED68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3" name="Shape 1"/>
          <p:cNvSpPr/>
          <p:nvPr/>
        </p:nvSpPr>
        <p:spPr>
          <a:xfrm>
            <a:off x="527269" y="3159235"/>
            <a:ext cx="4288750" cy="2773798"/>
          </a:xfrm>
          <a:prstGeom prst="roundRect">
            <a:avLst>
              <a:gd name="adj" fmla="val 1106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" name="Shape 2"/>
          <p:cNvSpPr/>
          <p:nvPr/>
        </p:nvSpPr>
        <p:spPr>
          <a:xfrm>
            <a:off x="754083" y="3386048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41249" y="3573095"/>
            <a:ext cx="306110" cy="3061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547992" y="3548985"/>
            <a:ext cx="34024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ko-KR" altLang="en-US" sz="2400" b="1" dirty="0">
                <a:solidFill>
                  <a:srgbClr val="4A4A45"/>
                </a:solidFill>
                <a:latin typeface="프리젠테이션 7 Bold" pitchFamily="2" charset="-127"/>
                <a:ea typeface="프리젠테이션 7 Bold" pitchFamily="2" charset="-127"/>
                <a:cs typeface="Lato Bold" pitchFamily="34" charset="-120"/>
              </a:rPr>
              <a:t>현재 운용중인 </a:t>
            </a:r>
            <a:r>
              <a:rPr lang="en-US" altLang="ko-KR" sz="2400" b="1" dirty="0">
                <a:solidFill>
                  <a:srgbClr val="4A4A45"/>
                </a:solidFill>
                <a:latin typeface="프리젠테이션 7 Bold" pitchFamily="2" charset="-127"/>
                <a:ea typeface="프리젠테이션 7 Bold" pitchFamily="2" charset="-127"/>
                <a:cs typeface="Lato Bold" pitchFamily="34" charset="-120"/>
              </a:rPr>
              <a:t>3D </a:t>
            </a:r>
            <a:r>
              <a:rPr lang="ko-KR" altLang="en-US" sz="2400" b="1" dirty="0">
                <a:solidFill>
                  <a:srgbClr val="4A4A45"/>
                </a:solidFill>
                <a:latin typeface="프리젠테이션 7 Bold" pitchFamily="2" charset="-127"/>
                <a:ea typeface="프리젠테이션 7 Bold" pitchFamily="2" charset="-127"/>
                <a:cs typeface="Lato Bold" pitchFamily="34" charset="-120"/>
              </a:rPr>
              <a:t>지도 조사</a:t>
            </a:r>
            <a:endParaRPr lang="en-US" sz="24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7" name="Text 4"/>
          <p:cNvSpPr/>
          <p:nvPr/>
        </p:nvSpPr>
        <p:spPr>
          <a:xfrm>
            <a:off x="845523" y="4326286"/>
            <a:ext cx="3742730" cy="575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ko-KR" altLang="en-US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국내에서 활용되고 있는 </a:t>
            </a:r>
            <a:r>
              <a:rPr lang="en-US" altLang="ko-KR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3D </a:t>
            </a:r>
            <a:r>
              <a:rPr lang="ko-KR" altLang="en-US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지도 및 공간 데이터 </a:t>
            </a:r>
            <a:endParaRPr lang="en-US" altLang="ko-KR" dirty="0">
              <a:solidFill>
                <a:srgbClr val="4A4A45"/>
              </a:solidFill>
              <a:latin typeface="프리젠테이션 4 Regular" pitchFamily="2" charset="-127"/>
              <a:ea typeface="프리젠테이션 4 Regular" pitchFamily="2" charset="-127"/>
              <a:cs typeface="Lato" pitchFamily="34" charset="-120"/>
            </a:endParaRPr>
          </a:p>
          <a:p>
            <a:pPr marL="0" indent="0" algn="l">
              <a:buNone/>
            </a:pPr>
            <a:r>
              <a:rPr lang="ko-KR" altLang="en-US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서비스 조사</a:t>
            </a:r>
            <a:endParaRPr lang="en-US" altLang="ko-KR" dirty="0">
              <a:solidFill>
                <a:srgbClr val="4A4A45"/>
              </a:solidFill>
              <a:latin typeface="프리젠테이션 4 Regular" pitchFamily="2" charset="-127"/>
              <a:ea typeface="프리젠테이션 4 Regular" pitchFamily="2" charset="-127"/>
              <a:cs typeface="Lato" pitchFamily="34" charset="-120"/>
            </a:endParaRPr>
          </a:p>
        </p:txBody>
      </p:sp>
      <p:sp>
        <p:nvSpPr>
          <p:cNvPr id="21" name="Text 0">
            <a:extLst>
              <a:ext uri="{FF2B5EF4-FFF2-40B4-BE49-F238E27FC236}">
                <a16:creationId xmlns:a16="http://schemas.microsoft.com/office/drawing/2014/main" id="{03EE2DB4-B079-D5ED-69E0-6184FD5DE570}"/>
              </a:ext>
            </a:extLst>
          </p:cNvPr>
          <p:cNvSpPr/>
          <p:nvPr/>
        </p:nvSpPr>
        <p:spPr>
          <a:xfrm>
            <a:off x="793790" y="1707357"/>
            <a:ext cx="1025973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800" b="1" dirty="0">
                <a:solidFill>
                  <a:srgbClr val="282824"/>
                </a:solidFill>
                <a:latin typeface="프리젠테이션 8 ExtraBold" pitchFamily="2" charset="-127"/>
                <a:ea typeface="프리젠테이션 8 ExtraBold" pitchFamily="2" charset="-127"/>
                <a:cs typeface="Lato Bold" pitchFamily="34" charset="-120"/>
              </a:rPr>
              <a:t>7. </a:t>
            </a:r>
            <a:r>
              <a:rPr lang="ko-KR" altLang="en-US" sz="4800" b="1" dirty="0">
                <a:solidFill>
                  <a:srgbClr val="282824"/>
                </a:solidFill>
                <a:latin typeface="프리젠테이션 8 ExtraBold" pitchFamily="2" charset="-127"/>
                <a:ea typeface="프리젠테이션 8 ExtraBold" pitchFamily="2" charset="-127"/>
                <a:cs typeface="Lato Bold" pitchFamily="34" charset="-120"/>
              </a:rPr>
              <a:t>프로젝트 관련 관찰 계획</a:t>
            </a:r>
            <a:endParaRPr lang="en-US" sz="480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5C56A8-E01A-5630-A406-545339D7B822}"/>
              </a:ext>
            </a:extLst>
          </p:cNvPr>
          <p:cNvSpPr txBox="1"/>
          <p:nvPr/>
        </p:nvSpPr>
        <p:spPr>
          <a:xfrm>
            <a:off x="754083" y="4972288"/>
            <a:ext cx="33075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ko-KR" altLang="en-US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기존 시스템의 기능과 활용방식 및 </a:t>
            </a:r>
            <a:endParaRPr lang="en-US" altLang="ko-KR" dirty="0">
              <a:solidFill>
                <a:srgbClr val="4A4A45"/>
              </a:solidFill>
              <a:latin typeface="프리젠테이션 4 Regular" pitchFamily="2" charset="-127"/>
              <a:ea typeface="프리젠테이션 4 Regular" pitchFamily="2" charset="-127"/>
              <a:cs typeface="Lato" pitchFamily="34" charset="-120"/>
            </a:endParaRPr>
          </a:p>
          <a:p>
            <a:pPr marL="0" indent="0" algn="l">
              <a:buNone/>
            </a:pPr>
            <a:r>
              <a:rPr lang="ko-KR" altLang="en-US" dirty="0">
                <a:solidFill>
                  <a:srgbClr val="4A4A45"/>
                </a:solidFill>
                <a:latin typeface="프리젠테이션 4 Regular" pitchFamily="2" charset="-127"/>
                <a:ea typeface="프리젠테이션 4 Regular" pitchFamily="2" charset="-127"/>
                <a:cs typeface="Lato" pitchFamily="34" charset="-120"/>
              </a:rPr>
              <a:t>이에 따른 한계점 분석</a:t>
            </a:r>
            <a:endParaRPr lang="en-US" altLang="ko-KR" dirty="0"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26" name="Shape 1">
            <a:extLst>
              <a:ext uri="{FF2B5EF4-FFF2-40B4-BE49-F238E27FC236}">
                <a16:creationId xmlns:a16="http://schemas.microsoft.com/office/drawing/2014/main" id="{85307DE7-57FB-C1BD-0903-FA101F389422}"/>
              </a:ext>
            </a:extLst>
          </p:cNvPr>
          <p:cNvSpPr/>
          <p:nvPr/>
        </p:nvSpPr>
        <p:spPr>
          <a:xfrm>
            <a:off x="5120581" y="3159235"/>
            <a:ext cx="4288750" cy="2773798"/>
          </a:xfrm>
          <a:prstGeom prst="roundRect">
            <a:avLst>
              <a:gd name="adj" fmla="val 1106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B3A6A1E3-C786-F593-1DB1-8EF9C89DB139}"/>
              </a:ext>
            </a:extLst>
          </p:cNvPr>
          <p:cNvSpPr/>
          <p:nvPr/>
        </p:nvSpPr>
        <p:spPr>
          <a:xfrm>
            <a:off x="6141304" y="3548985"/>
            <a:ext cx="34024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ko-KR" altLang="en-US" sz="2400" b="1" dirty="0">
                <a:solidFill>
                  <a:srgbClr val="4A4A45"/>
                </a:solidFill>
                <a:latin typeface="프리젠테이션 7 Bold" pitchFamily="2" charset="-127"/>
                <a:ea typeface="프리젠테이션 7 Bold" pitchFamily="2" charset="-127"/>
                <a:cs typeface="Lato Bold" pitchFamily="34" charset="-120"/>
              </a:rPr>
              <a:t>사용자 관련 경험 및 요구사항</a:t>
            </a:r>
            <a:endParaRPr lang="en-US" sz="24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32" name="Shape 1">
            <a:extLst>
              <a:ext uri="{FF2B5EF4-FFF2-40B4-BE49-F238E27FC236}">
                <a16:creationId xmlns:a16="http://schemas.microsoft.com/office/drawing/2014/main" id="{C5FA259D-1300-045F-A9CA-DC0266B6ED24}"/>
              </a:ext>
            </a:extLst>
          </p:cNvPr>
          <p:cNvSpPr/>
          <p:nvPr/>
        </p:nvSpPr>
        <p:spPr>
          <a:xfrm>
            <a:off x="9713893" y="3159235"/>
            <a:ext cx="4288750" cy="2773798"/>
          </a:xfrm>
          <a:prstGeom prst="roundRect">
            <a:avLst>
              <a:gd name="adj" fmla="val 1106"/>
            </a:avLst>
          </a:prstGeom>
          <a:solidFill>
            <a:srgbClr val="E5DFD2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">
            <a:extLst>
              <a:ext uri="{FF2B5EF4-FFF2-40B4-BE49-F238E27FC236}">
                <a16:creationId xmlns:a16="http://schemas.microsoft.com/office/drawing/2014/main" id="{BB021440-975A-2D70-8D2E-E2D40E389FA9}"/>
              </a:ext>
            </a:extLst>
          </p:cNvPr>
          <p:cNvSpPr/>
          <p:nvPr/>
        </p:nvSpPr>
        <p:spPr>
          <a:xfrm>
            <a:off x="10734616" y="3548985"/>
            <a:ext cx="340244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ko-KR" altLang="en-US" sz="2400" b="1" dirty="0">
                <a:solidFill>
                  <a:srgbClr val="4A4A45"/>
                </a:solidFill>
                <a:latin typeface="프리젠테이션 7 Bold" pitchFamily="2" charset="-127"/>
                <a:ea typeface="프리젠테이션 7 Bold" pitchFamily="2" charset="-127"/>
              </a:rPr>
              <a:t>관련 기관 및 전문가 인터뷰</a:t>
            </a:r>
            <a:endParaRPr lang="en-US" sz="2400" dirty="0">
              <a:latin typeface="프리젠테이션 7 Bold" pitchFamily="2" charset="-127"/>
              <a:ea typeface="프리젠테이션 7 Bold" pitchFamily="2" charset="-127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5307748" y="3385929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4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2"/>
          <p:cNvSpPr/>
          <p:nvPr/>
        </p:nvSpPr>
        <p:spPr>
          <a:xfrm>
            <a:off x="9919752" y="3385810"/>
            <a:ext cx="680442" cy="680442"/>
          </a:xfrm>
          <a:prstGeom prst="roundRect">
            <a:avLst>
              <a:gd name="adj" fmla="val 13436980"/>
            </a:avLst>
          </a:prstGeom>
          <a:solidFill>
            <a:srgbClr val="282824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29778" y="3572857"/>
            <a:ext cx="306110" cy="306110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6EE105BB-0562-11BE-8184-7C3A989B410D}"/>
              </a:ext>
            </a:extLst>
          </p:cNvPr>
          <p:cNvPicPr>
            <a:picLocks noChangeAspect="1"/>
          </p:cNvPicPr>
          <p:nvPr/>
        </p:nvPicPr>
        <p:blipFill>
          <a:blip r:embed="rId7">
            <a:biLevel thresh="25000"/>
          </a:blip>
          <a:stretch>
            <a:fillRect/>
          </a:stretch>
        </p:blipFill>
        <p:spPr>
          <a:xfrm>
            <a:off x="5375969" y="3462421"/>
            <a:ext cx="579765" cy="579765"/>
          </a:xfrm>
          <a:prstGeom prst="rect">
            <a:avLst/>
          </a:prstGeom>
        </p:spPr>
      </p:pic>
      <p:sp>
        <p:nvSpPr>
          <p:cNvPr id="40" name="TextBox 39">
            <a:extLst>
              <a:ext uri="{FF2B5EF4-FFF2-40B4-BE49-F238E27FC236}">
                <a16:creationId xmlns:a16="http://schemas.microsoft.com/office/drawing/2014/main" id="{7AB4296A-4217-F0EA-3979-F1E4A3B3A258}"/>
              </a:ext>
            </a:extLst>
          </p:cNvPr>
          <p:cNvSpPr txBox="1"/>
          <p:nvPr/>
        </p:nvSpPr>
        <p:spPr>
          <a:xfrm>
            <a:off x="5475567" y="4336865"/>
            <a:ext cx="346543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ko-KR" altLang="en-US" dirty="0">
                <a:solidFill>
                  <a:srgbClr val="3A3936"/>
                </a:solidFill>
                <a:latin typeface="프리젠테이션 4 Regular" pitchFamily="2" charset="-127"/>
                <a:ea typeface="프리젠테이션 4 Regular" pitchFamily="2" charset="-127"/>
              </a:rPr>
              <a:t>지도 서비스에 대한 경험 요소 조사 및 분석</a:t>
            </a:r>
            <a:endParaRPr lang="en-US" altLang="ko-KR" dirty="0">
              <a:solidFill>
                <a:srgbClr val="3A3936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5A8BAC7-8C7B-B327-2F09-77AEEA7C97B8}"/>
              </a:ext>
            </a:extLst>
          </p:cNvPr>
          <p:cNvSpPr txBox="1"/>
          <p:nvPr/>
        </p:nvSpPr>
        <p:spPr>
          <a:xfrm>
            <a:off x="5475567" y="5000934"/>
            <a:ext cx="3465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en-US" altLang="ko-KR" dirty="0">
                <a:solidFill>
                  <a:srgbClr val="3A3936"/>
                </a:solidFill>
                <a:latin typeface="프리젠테이션 4 Regular" pitchFamily="2" charset="-127"/>
                <a:ea typeface="프리젠테이션 4 Regular" pitchFamily="2" charset="-127"/>
              </a:rPr>
              <a:t>3D </a:t>
            </a:r>
            <a:r>
              <a:rPr lang="ko-KR" altLang="en-US" dirty="0">
                <a:solidFill>
                  <a:srgbClr val="3A3936"/>
                </a:solidFill>
                <a:latin typeface="프리젠테이션 4 Regular" pitchFamily="2" charset="-127"/>
                <a:ea typeface="프리젠테이션 4 Regular" pitchFamily="2" charset="-127"/>
              </a:rPr>
              <a:t>지도 서비스에 대한 구체적인 요구사항 조사</a:t>
            </a:r>
            <a:endParaRPr lang="en-US" altLang="ko-KR" dirty="0">
              <a:solidFill>
                <a:srgbClr val="3A3936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BEED9877-5993-6232-4A97-5793B0F89A39}"/>
              </a:ext>
            </a:extLst>
          </p:cNvPr>
          <p:cNvSpPr txBox="1"/>
          <p:nvPr/>
        </p:nvSpPr>
        <p:spPr>
          <a:xfrm>
            <a:off x="10129778" y="4336865"/>
            <a:ext cx="3465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ko-KR" altLang="en-US" dirty="0">
                <a:solidFill>
                  <a:srgbClr val="3A3936"/>
                </a:solidFill>
                <a:latin typeface="프리젠테이션 4 Regular" pitchFamily="2" charset="-127"/>
                <a:ea typeface="프리젠테이션 4 Regular" pitchFamily="2" charset="-127"/>
              </a:rPr>
              <a:t>공간 및 지도 데이터와 관련된 기관 또는</a:t>
            </a:r>
            <a:endParaRPr lang="en-US" altLang="ko-KR" dirty="0">
              <a:solidFill>
                <a:srgbClr val="3A3936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 algn="l">
              <a:buNone/>
            </a:pPr>
            <a:r>
              <a:rPr lang="ko-KR" altLang="en-US" dirty="0">
                <a:solidFill>
                  <a:srgbClr val="3A3936"/>
                </a:solidFill>
                <a:latin typeface="프리젠테이션 4 Regular" pitchFamily="2" charset="-127"/>
                <a:ea typeface="프리젠테이션 4 Regular" pitchFamily="2" charset="-127"/>
              </a:rPr>
              <a:t>전문가와 인터뷰 진행</a:t>
            </a:r>
            <a:endParaRPr lang="en-US" altLang="ko-KR" dirty="0">
              <a:solidFill>
                <a:srgbClr val="3A3936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34264AC9-6A42-69ED-5660-03CC58DBFC1E}"/>
              </a:ext>
            </a:extLst>
          </p:cNvPr>
          <p:cNvSpPr txBox="1"/>
          <p:nvPr/>
        </p:nvSpPr>
        <p:spPr>
          <a:xfrm>
            <a:off x="10129778" y="4999702"/>
            <a:ext cx="34654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l">
              <a:buNone/>
            </a:pPr>
            <a:r>
              <a:rPr lang="ko-KR" altLang="en-US" dirty="0">
                <a:solidFill>
                  <a:srgbClr val="3A3936"/>
                </a:solidFill>
                <a:latin typeface="프리젠테이션 4 Regular" pitchFamily="2" charset="-127"/>
                <a:ea typeface="프리젠테이션 4 Regular" pitchFamily="2" charset="-127"/>
              </a:rPr>
              <a:t>실제 데이터 활용 과정과 개발 및</a:t>
            </a:r>
            <a:endParaRPr lang="en-US" altLang="ko-KR" dirty="0">
              <a:solidFill>
                <a:srgbClr val="3A3936"/>
              </a:solidFill>
              <a:latin typeface="프리젠테이션 4 Regular" pitchFamily="2" charset="-127"/>
              <a:ea typeface="프리젠테이션 4 Regular" pitchFamily="2" charset="-127"/>
            </a:endParaRPr>
          </a:p>
          <a:p>
            <a:pPr marL="0" indent="0" algn="l">
              <a:buNone/>
            </a:pPr>
            <a:r>
              <a:rPr lang="ko-KR" altLang="en-US" dirty="0">
                <a:solidFill>
                  <a:srgbClr val="3A3936"/>
                </a:solidFill>
                <a:latin typeface="프리젠테이션 4 Regular" pitchFamily="2" charset="-127"/>
                <a:ea typeface="프리젠테이션 4 Regular" pitchFamily="2" charset="-127"/>
              </a:rPr>
              <a:t>운영상의 요구사항 파악</a:t>
            </a:r>
            <a:endParaRPr lang="en-US" altLang="ko-KR" dirty="0">
              <a:solidFill>
                <a:srgbClr val="3A3936"/>
              </a:solidFill>
              <a:latin typeface="프리젠테이션 4 Regular" pitchFamily="2" charset="-127"/>
              <a:ea typeface="프리젠테이션 4 Regular" pitchFamily="2" charset="-127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>
            <a:extLst>
              <a:ext uri="{FF2B5EF4-FFF2-40B4-BE49-F238E27FC236}">
                <a16:creationId xmlns:a16="http://schemas.microsoft.com/office/drawing/2014/main" id="{50AD6C90-D34C-BC32-8286-2397C671A00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EFECE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Text 0"/>
          <p:cNvSpPr/>
          <p:nvPr/>
        </p:nvSpPr>
        <p:spPr>
          <a:xfrm>
            <a:off x="1644551" y="3405961"/>
            <a:ext cx="11341298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11150"/>
              </a:lnSpc>
              <a:buNone/>
            </a:pPr>
            <a:r>
              <a:rPr lang="en-US" sz="8900" b="1" dirty="0">
                <a:solidFill>
                  <a:srgbClr val="282824"/>
                </a:solidFill>
                <a:latin typeface="프리젠테이션 8 ExtraBold" pitchFamily="2" charset="-127"/>
                <a:ea typeface="프리젠테이션 8 ExtraBold" pitchFamily="2" charset="-127"/>
                <a:cs typeface="Lato Bold" pitchFamily="34" charset="-120"/>
              </a:rPr>
              <a:t>감사합니다</a:t>
            </a:r>
            <a:endParaRPr lang="en-US" sz="8900" dirty="0">
              <a:latin typeface="프리젠테이션 8 ExtraBold" pitchFamily="2" charset="-127"/>
              <a:ea typeface="프리젠테이션 8 ExtraBold" pitchFamily="2" charset="-127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314</TotalTime>
  <Words>1090</Words>
  <Application>Microsoft Office PowerPoint</Application>
  <PresentationFormat>사용자 지정</PresentationFormat>
  <Paragraphs>123</Paragraphs>
  <Slides>10</Slides>
  <Notes>10</Notes>
  <HiddenSlides>0</HiddenSlides>
  <MMClips>0</MMClips>
  <ScaleCrop>false</ScaleCrop>
  <HeadingPairs>
    <vt:vector size="6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9" baseType="lpstr">
      <vt:lpstr>프리젠테이션 3 Light</vt:lpstr>
      <vt:lpstr>프리젠테이션 4 Regular</vt:lpstr>
      <vt:lpstr>프리젠테이션 7 Bold</vt:lpstr>
      <vt:lpstr>AppleSDGothicNeoH00</vt:lpstr>
      <vt:lpstr>Arial</vt:lpstr>
      <vt:lpstr>프리젠테이션 9 Black</vt:lpstr>
      <vt:lpstr>프리젠테이션 8 ExtraBold</vt:lpstr>
      <vt:lpstr>프리젠테이션 6 SemiBold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황용하</dc:creator>
  <cp:lastModifiedBy>황용하</cp:lastModifiedBy>
  <cp:revision>7</cp:revision>
  <dcterms:created xsi:type="dcterms:W3CDTF">2026-03-14T07:14:42Z</dcterms:created>
  <dcterms:modified xsi:type="dcterms:W3CDTF">2026-03-14T17:27:37Z</dcterms:modified>
</cp:coreProperties>
</file>